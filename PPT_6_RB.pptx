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roogla Bold" charset="1" panose="02000000000000000000"/>
      <p:regular r:id="rId16"/>
    </p:embeddedFont>
    <p:embeddedFont>
      <p:font typeface="Century Gothic Paneuropean" charset="1" panose="020B0502020202020204"/>
      <p:regular r:id="rId17"/>
    </p:embeddedFont>
    <p:embeddedFont>
      <p:font typeface="Century Gothic Paneuropean Bold" charset="1" panose="020B0702020202020204"/>
      <p:regular r:id="rId18"/>
    </p:embeddedFont>
    <p:embeddedFont>
      <p:font typeface="Century Gothic Paneuropean Italics" charset="1" panose="020B050202020209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8.png" Type="http://schemas.openxmlformats.org/officeDocument/2006/relationships/image"/><Relationship Id="rId9"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9.png" Type="http://schemas.openxmlformats.org/officeDocument/2006/relationships/image"/><Relationship Id="rId9"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 Id="rId9"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1.png" Type="http://schemas.openxmlformats.org/officeDocument/2006/relationships/image"/><Relationship Id="rId9"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2.png" Type="http://schemas.openxmlformats.org/officeDocument/2006/relationships/image"/><Relationship Id="rId9"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33173"/>
        </a:solidFill>
      </p:bgPr>
    </p:bg>
    <p:spTree>
      <p:nvGrpSpPr>
        <p:cNvPr id="1" name=""/>
        <p:cNvGrpSpPr/>
        <p:nvPr/>
      </p:nvGrpSpPr>
      <p:grpSpPr>
        <a:xfrm>
          <a:off x="0" y="0"/>
          <a:ext cx="0" cy="0"/>
          <a:chOff x="0" y="0"/>
          <a:chExt cx="0" cy="0"/>
        </a:xfrm>
      </p:grpSpPr>
      <p:grpSp>
        <p:nvGrpSpPr>
          <p:cNvPr name="Group 2" id="2"/>
          <p:cNvGrpSpPr/>
          <p:nvPr/>
        </p:nvGrpSpPr>
        <p:grpSpPr>
          <a:xfrm rot="0">
            <a:off x="-316746" y="9258300"/>
            <a:ext cx="18921492" cy="1543050"/>
            <a:chOff x="0" y="0"/>
            <a:chExt cx="4983438" cy="406400"/>
          </a:xfrm>
        </p:grpSpPr>
        <p:sp>
          <p:nvSpPr>
            <p:cNvPr name="Freeform 3" id="3"/>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1C75FF"/>
            </a:solidFill>
          </p:spPr>
        </p:sp>
        <p:sp>
          <p:nvSpPr>
            <p:cNvPr name="TextBox 4" id="4"/>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3077825" y="1028700"/>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0" y="6172200"/>
            <a:ext cx="6172200" cy="4114800"/>
          </a:xfrm>
          <a:custGeom>
            <a:avLst/>
            <a:gdLst/>
            <a:ahLst/>
            <a:cxnLst/>
            <a:rect r="r" b="b" t="t" l="l"/>
            <a:pathLst>
              <a:path h="4114800" w="6172200">
                <a:moveTo>
                  <a:pt x="6172200" y="0"/>
                </a:moveTo>
                <a:lnTo>
                  <a:pt x="0" y="0"/>
                </a:lnTo>
                <a:lnTo>
                  <a:pt x="0" y="4114800"/>
                </a:lnTo>
                <a:lnTo>
                  <a:pt x="6172200" y="4114800"/>
                </a:lnTo>
                <a:lnTo>
                  <a:pt x="6172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4472067" y="-75137"/>
            <a:ext cx="18921492" cy="1543050"/>
            <a:chOff x="0" y="0"/>
            <a:chExt cx="4983438" cy="406400"/>
          </a:xfrm>
        </p:grpSpPr>
        <p:sp>
          <p:nvSpPr>
            <p:cNvPr name="Freeform 8" id="8"/>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1C75FF"/>
            </a:solidFill>
          </p:spPr>
        </p:sp>
        <p:sp>
          <p:nvSpPr>
            <p:cNvPr name="TextBox 9" id="9"/>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true" flipV="false" rot="0">
            <a:off x="0" y="0"/>
            <a:ext cx="2279859" cy="2279859"/>
          </a:xfrm>
          <a:custGeom>
            <a:avLst/>
            <a:gdLst/>
            <a:ahLst/>
            <a:cxnLst/>
            <a:rect r="r" b="b" t="t" l="l"/>
            <a:pathLst>
              <a:path h="2279859" w="2279859">
                <a:moveTo>
                  <a:pt x="2279859" y="0"/>
                </a:moveTo>
                <a:lnTo>
                  <a:pt x="0" y="0"/>
                </a:lnTo>
                <a:lnTo>
                  <a:pt x="0" y="2279859"/>
                </a:lnTo>
                <a:lnTo>
                  <a:pt x="2279859" y="2279859"/>
                </a:lnTo>
                <a:lnTo>
                  <a:pt x="2279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583472" y="1567247"/>
            <a:ext cx="696388" cy="69638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6008141" y="8007141"/>
            <a:ext cx="2279859" cy="2279859"/>
            <a:chOff x="0" y="0"/>
            <a:chExt cx="3039813" cy="3039813"/>
          </a:xfrm>
        </p:grpSpPr>
        <p:sp>
          <p:nvSpPr>
            <p:cNvPr name="Freeform 15" id="15"/>
            <p:cNvSpPr/>
            <p:nvPr/>
          </p:nvSpPr>
          <p:spPr>
            <a:xfrm flipH="false" flipV="false" rot="0">
              <a:off x="0" y="0"/>
              <a:ext cx="3039813" cy="3039813"/>
            </a:xfrm>
            <a:custGeom>
              <a:avLst/>
              <a:gdLst/>
              <a:ahLst/>
              <a:cxnLst/>
              <a:rect r="r" b="b" t="t" l="l"/>
              <a:pathLst>
                <a:path h="3039813" w="3039813">
                  <a:moveTo>
                    <a:pt x="0" y="0"/>
                  </a:moveTo>
                  <a:lnTo>
                    <a:pt x="3039813" y="0"/>
                  </a:lnTo>
                  <a:lnTo>
                    <a:pt x="3039813" y="3039813"/>
                  </a:lnTo>
                  <a:lnTo>
                    <a:pt x="0" y="30398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0" y="2111295"/>
              <a:ext cx="928517" cy="92851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F25"/>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1971595" y="63500"/>
              <a:ext cx="928517" cy="92851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F25"/>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2" id="22"/>
          <p:cNvGrpSpPr/>
          <p:nvPr/>
        </p:nvGrpSpPr>
        <p:grpSpPr>
          <a:xfrm rot="0">
            <a:off x="133350" y="28575"/>
            <a:ext cx="696388" cy="69638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5" id="25"/>
          <p:cNvSpPr/>
          <p:nvPr/>
        </p:nvSpPr>
        <p:spPr>
          <a:xfrm flipH="false" flipV="false" rot="0">
            <a:off x="1220621"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6" id="26"/>
          <p:cNvGrpSpPr/>
          <p:nvPr/>
        </p:nvGrpSpPr>
        <p:grpSpPr>
          <a:xfrm rot="0">
            <a:off x="6854973" y="933380"/>
            <a:ext cx="4578054" cy="1041680"/>
            <a:chOff x="0" y="0"/>
            <a:chExt cx="6104073" cy="1388906"/>
          </a:xfrm>
        </p:grpSpPr>
        <p:grpSp>
          <p:nvGrpSpPr>
            <p:cNvPr name="Group 27" id="27"/>
            <p:cNvGrpSpPr/>
            <p:nvPr/>
          </p:nvGrpSpPr>
          <p:grpSpPr>
            <a:xfrm rot="0">
              <a:off x="0" y="0"/>
              <a:ext cx="6104073" cy="1388906"/>
              <a:chOff x="0" y="0"/>
              <a:chExt cx="1205743" cy="274352"/>
            </a:xfrm>
          </p:grpSpPr>
          <p:sp>
            <p:nvSpPr>
              <p:cNvPr name="Freeform 28" id="28"/>
              <p:cNvSpPr/>
              <p:nvPr/>
            </p:nvSpPr>
            <p:spPr>
              <a:xfrm flipH="false" flipV="false" rot="0">
                <a:off x="0" y="0"/>
                <a:ext cx="1205743" cy="274352"/>
              </a:xfrm>
              <a:custGeom>
                <a:avLst/>
                <a:gdLst/>
                <a:ahLst/>
                <a:cxnLst/>
                <a:rect r="r" b="b" t="t" l="l"/>
                <a:pathLst>
                  <a:path h="274352" w="1205743">
                    <a:moveTo>
                      <a:pt x="86246" y="0"/>
                    </a:moveTo>
                    <a:lnTo>
                      <a:pt x="1119497" y="0"/>
                    </a:lnTo>
                    <a:cubicBezTo>
                      <a:pt x="1142371" y="0"/>
                      <a:pt x="1164308" y="9087"/>
                      <a:pt x="1180482" y="25261"/>
                    </a:cubicBezTo>
                    <a:cubicBezTo>
                      <a:pt x="1196656" y="41435"/>
                      <a:pt x="1205743" y="63372"/>
                      <a:pt x="1205743" y="86246"/>
                    </a:cubicBezTo>
                    <a:lnTo>
                      <a:pt x="1205743" y="188106"/>
                    </a:lnTo>
                    <a:cubicBezTo>
                      <a:pt x="1205743" y="210980"/>
                      <a:pt x="1196656" y="232917"/>
                      <a:pt x="1180482" y="249091"/>
                    </a:cubicBezTo>
                    <a:cubicBezTo>
                      <a:pt x="1164308" y="265265"/>
                      <a:pt x="1142371" y="274352"/>
                      <a:pt x="1119497" y="274352"/>
                    </a:cubicBezTo>
                    <a:lnTo>
                      <a:pt x="86246" y="274352"/>
                    </a:lnTo>
                    <a:cubicBezTo>
                      <a:pt x="63372" y="274352"/>
                      <a:pt x="41435" y="265265"/>
                      <a:pt x="25261" y="249091"/>
                    </a:cubicBezTo>
                    <a:cubicBezTo>
                      <a:pt x="9087" y="232917"/>
                      <a:pt x="0" y="210980"/>
                      <a:pt x="0" y="188106"/>
                    </a:cubicBezTo>
                    <a:lnTo>
                      <a:pt x="0" y="86246"/>
                    </a:lnTo>
                    <a:cubicBezTo>
                      <a:pt x="0" y="63372"/>
                      <a:pt x="9087" y="41435"/>
                      <a:pt x="25261" y="25261"/>
                    </a:cubicBezTo>
                    <a:cubicBezTo>
                      <a:pt x="41435" y="9087"/>
                      <a:pt x="63372" y="0"/>
                      <a:pt x="86246" y="0"/>
                    </a:cubicBezTo>
                    <a:close/>
                  </a:path>
                </a:pathLst>
              </a:custGeom>
              <a:solidFill>
                <a:srgbClr val="FFFFFF"/>
              </a:solidFill>
            </p:spPr>
          </p:sp>
          <p:sp>
            <p:nvSpPr>
              <p:cNvPr name="TextBox 29" id="29"/>
              <p:cNvSpPr txBox="true"/>
              <p:nvPr/>
            </p:nvSpPr>
            <p:spPr>
              <a:xfrm>
                <a:off x="0" y="-38100"/>
                <a:ext cx="1205743" cy="312452"/>
              </a:xfrm>
              <a:prstGeom prst="rect">
                <a:avLst/>
              </a:prstGeom>
            </p:spPr>
            <p:txBody>
              <a:bodyPr anchor="ctr" rtlCol="false" tIns="50800" lIns="50800" bIns="50800" rIns="50800"/>
              <a:lstStyle/>
              <a:p>
                <a:pPr algn="ctr">
                  <a:lnSpc>
                    <a:spcPts val="2659"/>
                  </a:lnSpc>
                </a:pPr>
              </a:p>
            </p:txBody>
          </p:sp>
        </p:grpSp>
        <p:sp>
          <p:nvSpPr>
            <p:cNvPr name="Freeform 30" id="30"/>
            <p:cNvSpPr/>
            <p:nvPr/>
          </p:nvSpPr>
          <p:spPr>
            <a:xfrm flipH="false" flipV="false" rot="0">
              <a:off x="2372740" y="56308"/>
              <a:ext cx="1124209" cy="1124209"/>
            </a:xfrm>
            <a:custGeom>
              <a:avLst/>
              <a:gdLst/>
              <a:ahLst/>
              <a:cxnLst/>
              <a:rect r="r" b="b" t="t" l="l"/>
              <a:pathLst>
                <a:path h="1124209" w="1124209">
                  <a:moveTo>
                    <a:pt x="0" y="0"/>
                  </a:moveTo>
                  <a:lnTo>
                    <a:pt x="1124209" y="0"/>
                  </a:lnTo>
                  <a:lnTo>
                    <a:pt x="1124209" y="1124209"/>
                  </a:lnTo>
                  <a:lnTo>
                    <a:pt x="0" y="1124209"/>
                  </a:lnTo>
                  <a:lnTo>
                    <a:pt x="0" y="0"/>
                  </a:lnTo>
                  <a:close/>
                </a:path>
              </a:pathLst>
            </a:custGeom>
            <a:blipFill>
              <a:blip r:embed="rId8"/>
              <a:stretch>
                <a:fillRect l="0" t="0" r="0" b="0"/>
              </a:stretch>
            </a:blipFill>
          </p:spPr>
        </p:sp>
        <p:sp>
          <p:nvSpPr>
            <p:cNvPr name="Freeform 31" id="31"/>
            <p:cNvSpPr/>
            <p:nvPr/>
          </p:nvSpPr>
          <p:spPr>
            <a:xfrm flipH="false" flipV="false" rot="0">
              <a:off x="4644101" y="98484"/>
              <a:ext cx="938280" cy="1038569"/>
            </a:xfrm>
            <a:custGeom>
              <a:avLst/>
              <a:gdLst/>
              <a:ahLst/>
              <a:cxnLst/>
              <a:rect r="r" b="b" t="t" l="l"/>
              <a:pathLst>
                <a:path h="1038569" w="938280">
                  <a:moveTo>
                    <a:pt x="0" y="0"/>
                  </a:moveTo>
                  <a:lnTo>
                    <a:pt x="938280" y="0"/>
                  </a:lnTo>
                  <a:lnTo>
                    <a:pt x="938280" y="1038568"/>
                  </a:lnTo>
                  <a:lnTo>
                    <a:pt x="0" y="1038568"/>
                  </a:lnTo>
                  <a:lnTo>
                    <a:pt x="0" y="0"/>
                  </a:lnTo>
                  <a:close/>
                </a:path>
              </a:pathLst>
            </a:custGeom>
            <a:blipFill>
              <a:blip r:embed="rId9"/>
              <a:stretch>
                <a:fillRect l="0" t="0" r="0" b="0"/>
              </a:stretch>
            </a:blipFill>
          </p:spPr>
        </p:sp>
        <p:sp>
          <p:nvSpPr>
            <p:cNvPr name="Freeform 32" id="32"/>
            <p:cNvSpPr/>
            <p:nvPr/>
          </p:nvSpPr>
          <p:spPr>
            <a:xfrm flipH="false" flipV="false" rot="0">
              <a:off x="3496949" y="98484"/>
              <a:ext cx="1044322" cy="1039859"/>
            </a:xfrm>
            <a:custGeom>
              <a:avLst/>
              <a:gdLst/>
              <a:ahLst/>
              <a:cxnLst/>
              <a:rect r="r" b="b" t="t" l="l"/>
              <a:pathLst>
                <a:path h="1039859" w="1044322">
                  <a:moveTo>
                    <a:pt x="0" y="0"/>
                  </a:moveTo>
                  <a:lnTo>
                    <a:pt x="1044322" y="0"/>
                  </a:lnTo>
                  <a:lnTo>
                    <a:pt x="1044322" y="1039858"/>
                  </a:lnTo>
                  <a:lnTo>
                    <a:pt x="0" y="1039858"/>
                  </a:lnTo>
                  <a:lnTo>
                    <a:pt x="0" y="0"/>
                  </a:lnTo>
                  <a:close/>
                </a:path>
              </a:pathLst>
            </a:custGeom>
            <a:blipFill>
              <a:blip r:embed="rId10"/>
              <a:stretch>
                <a:fillRect l="0" t="0" r="0" b="0"/>
              </a:stretch>
            </a:blipFill>
          </p:spPr>
        </p:sp>
        <p:sp>
          <p:nvSpPr>
            <p:cNvPr name="Freeform 33" id="33"/>
            <p:cNvSpPr/>
            <p:nvPr/>
          </p:nvSpPr>
          <p:spPr>
            <a:xfrm flipH="false" flipV="false" rot="0">
              <a:off x="1496830" y="98484"/>
              <a:ext cx="1039859" cy="1039859"/>
            </a:xfrm>
            <a:custGeom>
              <a:avLst/>
              <a:gdLst/>
              <a:ahLst/>
              <a:cxnLst/>
              <a:rect r="r" b="b" t="t" l="l"/>
              <a:pathLst>
                <a:path h="1039859" w="1039859">
                  <a:moveTo>
                    <a:pt x="0" y="0"/>
                  </a:moveTo>
                  <a:lnTo>
                    <a:pt x="1039858" y="0"/>
                  </a:lnTo>
                  <a:lnTo>
                    <a:pt x="1039858" y="1039858"/>
                  </a:lnTo>
                  <a:lnTo>
                    <a:pt x="0" y="1039858"/>
                  </a:lnTo>
                  <a:lnTo>
                    <a:pt x="0" y="0"/>
                  </a:lnTo>
                  <a:close/>
                </a:path>
              </a:pathLst>
            </a:custGeom>
            <a:blipFill>
              <a:blip r:embed="rId11"/>
              <a:stretch>
                <a:fillRect l="0" t="0" r="0" b="0"/>
              </a:stretch>
            </a:blipFill>
          </p:spPr>
        </p:sp>
        <p:sp>
          <p:nvSpPr>
            <p:cNvPr name="Freeform 34" id="34"/>
            <p:cNvSpPr/>
            <p:nvPr/>
          </p:nvSpPr>
          <p:spPr>
            <a:xfrm flipH="false" flipV="false" rot="0">
              <a:off x="362098" y="122166"/>
              <a:ext cx="1033131" cy="1033131"/>
            </a:xfrm>
            <a:custGeom>
              <a:avLst/>
              <a:gdLst/>
              <a:ahLst/>
              <a:cxnLst/>
              <a:rect r="r" b="b" t="t" l="l"/>
              <a:pathLst>
                <a:path h="1033131" w="1033131">
                  <a:moveTo>
                    <a:pt x="0" y="0"/>
                  </a:moveTo>
                  <a:lnTo>
                    <a:pt x="1033132" y="0"/>
                  </a:lnTo>
                  <a:lnTo>
                    <a:pt x="1033132" y="1033132"/>
                  </a:lnTo>
                  <a:lnTo>
                    <a:pt x="0" y="1033132"/>
                  </a:lnTo>
                  <a:lnTo>
                    <a:pt x="0" y="0"/>
                  </a:lnTo>
                  <a:close/>
                </a:path>
              </a:pathLst>
            </a:custGeom>
            <a:blipFill>
              <a:blip r:embed="rId12"/>
              <a:stretch>
                <a:fillRect l="0" t="0" r="0" b="0"/>
              </a:stretch>
            </a:blipFill>
          </p:spPr>
        </p:sp>
      </p:grpSp>
      <p:sp>
        <p:nvSpPr>
          <p:cNvPr name="TextBox 35" id="35"/>
          <p:cNvSpPr txBox="true"/>
          <p:nvPr/>
        </p:nvSpPr>
        <p:spPr>
          <a:xfrm rot="0">
            <a:off x="1583472" y="3609975"/>
            <a:ext cx="15121057" cy="2823714"/>
          </a:xfrm>
          <a:prstGeom prst="rect">
            <a:avLst/>
          </a:prstGeom>
        </p:spPr>
        <p:txBody>
          <a:bodyPr anchor="t" rtlCol="false" tIns="0" lIns="0" bIns="0" rIns="0">
            <a:spAutoFit/>
          </a:bodyPr>
          <a:lstStyle/>
          <a:p>
            <a:pPr algn="ctr">
              <a:lnSpc>
                <a:spcPts val="5455"/>
              </a:lnSpc>
            </a:pPr>
            <a:r>
              <a:rPr lang="en-US" b="true" sz="6199">
                <a:solidFill>
                  <a:srgbClr val="FFFFFF"/>
                </a:solidFill>
                <a:latin typeface="Croogla Bold"/>
                <a:ea typeface="Croogla Bold"/>
                <a:cs typeface="Croogla Bold"/>
                <a:sym typeface="Croogla Bold"/>
              </a:rPr>
              <a:t>ANALISIS UKT, GOLONGAN UKT, </a:t>
            </a:r>
          </a:p>
          <a:p>
            <a:pPr algn="ctr">
              <a:lnSpc>
                <a:spcPts val="5455"/>
              </a:lnSpc>
            </a:pPr>
            <a:r>
              <a:rPr lang="en-US" b="true" sz="6199">
                <a:solidFill>
                  <a:srgbClr val="FFFFFF"/>
                </a:solidFill>
                <a:latin typeface="Croogla Bold"/>
                <a:ea typeface="Croogla Bold"/>
                <a:cs typeface="Croogla Bold"/>
                <a:sym typeface="Croogla Bold"/>
              </a:rPr>
              <a:t>ASAL DAERAH DAN STATUS BEASISWA MAHASISWA ASRAMA TPB ITERA 2025</a:t>
            </a:r>
          </a:p>
          <a:p>
            <a:pPr algn="ctr">
              <a:lnSpc>
                <a:spcPts val="5455"/>
              </a:lnSpc>
            </a:pPr>
          </a:p>
        </p:txBody>
      </p:sp>
      <p:sp>
        <p:nvSpPr>
          <p:cNvPr name="TextBox 36" id="36"/>
          <p:cNvSpPr txBox="true"/>
          <p:nvPr/>
        </p:nvSpPr>
        <p:spPr>
          <a:xfrm rot="0">
            <a:off x="6690570" y="2222709"/>
            <a:ext cx="4906860" cy="1047423"/>
          </a:xfrm>
          <a:prstGeom prst="rect">
            <a:avLst/>
          </a:prstGeom>
        </p:spPr>
        <p:txBody>
          <a:bodyPr anchor="t" rtlCol="false" tIns="0" lIns="0" bIns="0" rIns="0">
            <a:spAutoFit/>
          </a:bodyPr>
          <a:lstStyle/>
          <a:p>
            <a:pPr algn="ctr">
              <a:lnSpc>
                <a:spcPts val="4218"/>
              </a:lnSpc>
            </a:pPr>
            <a:r>
              <a:rPr lang="en-US" sz="3012">
                <a:solidFill>
                  <a:srgbClr val="FFFFFF"/>
                </a:solidFill>
                <a:latin typeface="Century Gothic Paneuropean"/>
                <a:ea typeface="Century Gothic Paneuropean"/>
                <a:cs typeface="Century Gothic Paneuropean"/>
                <a:sym typeface="Century Gothic Paneuropean"/>
              </a:rPr>
              <a:t>Dosen Pengampu:</a:t>
            </a:r>
          </a:p>
          <a:p>
            <a:pPr algn="ctr">
              <a:lnSpc>
                <a:spcPts val="4218"/>
              </a:lnSpc>
              <a:spcBef>
                <a:spcPct val="0"/>
              </a:spcBef>
            </a:pPr>
            <a:r>
              <a:rPr lang="en-US" sz="3012">
                <a:solidFill>
                  <a:srgbClr val="FFFFFF"/>
                </a:solidFill>
                <a:latin typeface="Century Gothic Paneuropean"/>
                <a:ea typeface="Century Gothic Paneuropean"/>
                <a:cs typeface="Century Gothic Paneuropean"/>
                <a:sym typeface="Century Gothic Paneuropean"/>
              </a:rPr>
              <a:t>Fitri Nurjanah, S.Si., M.Mat.</a:t>
            </a:r>
          </a:p>
        </p:txBody>
      </p:sp>
      <p:sp>
        <p:nvSpPr>
          <p:cNvPr name="TextBox 37" id="37"/>
          <p:cNvSpPr txBox="true"/>
          <p:nvPr/>
        </p:nvSpPr>
        <p:spPr>
          <a:xfrm rot="0">
            <a:off x="3314232" y="6657026"/>
            <a:ext cx="11659536" cy="779564"/>
          </a:xfrm>
          <a:prstGeom prst="rect">
            <a:avLst/>
          </a:prstGeom>
        </p:spPr>
        <p:txBody>
          <a:bodyPr anchor="t" rtlCol="false" tIns="0" lIns="0" bIns="0" rIns="0">
            <a:spAutoFit/>
          </a:bodyPr>
          <a:lstStyle/>
          <a:p>
            <a:pPr algn="ctr">
              <a:lnSpc>
                <a:spcPts val="6381"/>
              </a:lnSpc>
              <a:spcBef>
                <a:spcPct val="0"/>
              </a:spcBef>
            </a:pPr>
            <a:r>
              <a:rPr lang="en-US" b="true" sz="4558">
                <a:solidFill>
                  <a:srgbClr val="233173"/>
                </a:solidFill>
                <a:latin typeface="Century Gothic Paneuropean Bold"/>
                <a:ea typeface="Century Gothic Paneuropean Bold"/>
                <a:cs typeface="Century Gothic Paneuropean Bold"/>
                <a:sym typeface="Century Gothic Paneuropean Bold"/>
              </a:rPr>
              <a:t>  Kelompok 6  </a:t>
            </a:r>
          </a:p>
        </p:txBody>
      </p:sp>
      <p:sp>
        <p:nvSpPr>
          <p:cNvPr name="TextBox 38" id="38"/>
          <p:cNvSpPr txBox="true"/>
          <p:nvPr/>
        </p:nvSpPr>
        <p:spPr>
          <a:xfrm rot="0">
            <a:off x="3603140" y="5711766"/>
            <a:ext cx="11081719" cy="1047750"/>
          </a:xfrm>
          <a:prstGeom prst="rect">
            <a:avLst/>
          </a:prstGeom>
        </p:spPr>
        <p:txBody>
          <a:bodyPr anchor="t" rtlCol="false" tIns="0" lIns="0" bIns="0" rIns="0">
            <a:spAutoFit/>
          </a:bodyPr>
          <a:lstStyle/>
          <a:p>
            <a:pPr algn="ctr">
              <a:lnSpc>
                <a:spcPts val="4200"/>
              </a:lnSpc>
            </a:pPr>
            <a:r>
              <a:rPr lang="en-US" sz="3000">
                <a:solidFill>
                  <a:srgbClr val="FFFFFF"/>
                </a:solidFill>
                <a:latin typeface="Century Gothic Paneuropean"/>
                <a:ea typeface="Century Gothic Paneuropean"/>
                <a:cs typeface="Century Gothic Paneuropean"/>
                <a:sym typeface="Century Gothic Paneuropean"/>
              </a:rPr>
              <a:t>Studi Komputasi Statistik dengan Jackknife Resampling</a:t>
            </a:r>
          </a:p>
          <a:p>
            <a:pPr algn="ctr">
              <a:lnSpc>
                <a:spcPts val="4200"/>
              </a:lnSpc>
              <a:spcBef>
                <a:spcPct val="0"/>
              </a:spcBef>
            </a:pPr>
          </a:p>
        </p:txBody>
      </p:sp>
      <p:sp>
        <p:nvSpPr>
          <p:cNvPr name="TextBox 39" id="39"/>
          <p:cNvSpPr txBox="true"/>
          <p:nvPr/>
        </p:nvSpPr>
        <p:spPr>
          <a:xfrm rot="0">
            <a:off x="6431385" y="7969041"/>
            <a:ext cx="9317571" cy="797402"/>
          </a:xfrm>
          <a:prstGeom prst="rect">
            <a:avLst/>
          </a:prstGeom>
        </p:spPr>
        <p:txBody>
          <a:bodyPr anchor="t" rtlCol="false" tIns="0" lIns="0" bIns="0" rIns="0">
            <a:spAutoFit/>
          </a:bodyPr>
          <a:lstStyle/>
          <a:p>
            <a:pPr algn="l">
              <a:lnSpc>
                <a:spcPts val="3298"/>
              </a:lnSpc>
            </a:pPr>
            <a:r>
              <a:rPr lang="en-US" sz="2356">
                <a:solidFill>
                  <a:srgbClr val="FFFFFF"/>
                </a:solidFill>
                <a:latin typeface="Century Gothic Paneuropean"/>
                <a:ea typeface="Century Gothic Paneuropean"/>
                <a:cs typeface="Century Gothic Paneuropean"/>
                <a:sym typeface="Century Gothic Paneuropean"/>
              </a:rPr>
              <a:t>Azzahra Putri Kamilah   (123450013)     Qois Olifio       (123450067) </a:t>
            </a:r>
          </a:p>
          <a:p>
            <a:pPr algn="l">
              <a:lnSpc>
                <a:spcPts val="3298"/>
              </a:lnSpc>
              <a:spcBef>
                <a:spcPct val="0"/>
              </a:spcBef>
            </a:pPr>
            <a:r>
              <a:rPr lang="en-US" sz="2356">
                <a:solidFill>
                  <a:srgbClr val="FFFFFF"/>
                </a:solidFill>
                <a:latin typeface="Century Gothic Paneuropean"/>
                <a:ea typeface="Century Gothic Paneuropean"/>
                <a:cs typeface="Century Gothic Paneuropean"/>
                <a:sym typeface="Century Gothic Paneuropean"/>
              </a:rPr>
              <a:t>Juesi Apridelia Saragih (123450085)     Zailani Satria  (123450123)</a:t>
            </a:r>
          </a:p>
        </p:txBody>
      </p:sp>
      <p:sp>
        <p:nvSpPr>
          <p:cNvPr name="TextBox 40" id="40"/>
          <p:cNvSpPr txBox="true"/>
          <p:nvPr/>
        </p:nvSpPr>
        <p:spPr>
          <a:xfrm rot="0">
            <a:off x="3314232" y="6652764"/>
            <a:ext cx="11659536" cy="779564"/>
          </a:xfrm>
          <a:prstGeom prst="rect">
            <a:avLst/>
          </a:prstGeom>
        </p:spPr>
        <p:txBody>
          <a:bodyPr anchor="t" rtlCol="false" tIns="0" lIns="0" bIns="0" rIns="0">
            <a:spAutoFit/>
          </a:bodyPr>
          <a:lstStyle/>
          <a:p>
            <a:pPr algn="ctr">
              <a:lnSpc>
                <a:spcPts val="6381"/>
              </a:lnSpc>
              <a:spcBef>
                <a:spcPct val="0"/>
              </a:spcBef>
            </a:pPr>
            <a:r>
              <a:rPr lang="en-US" b="true" sz="4558">
                <a:solidFill>
                  <a:srgbClr val="233173"/>
                </a:solidFill>
                <a:latin typeface="Century Gothic Paneuropean Bold"/>
                <a:ea typeface="Century Gothic Paneuropean Bold"/>
                <a:cs typeface="Century Gothic Paneuropean Bold"/>
                <a:sym typeface="Century Gothic Paneuropean Bold"/>
              </a:rPr>
              <a:t>  Kelompok 6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9EA"/>
        </a:solidFill>
      </p:bgPr>
    </p:bg>
    <p:spTree>
      <p:nvGrpSpPr>
        <p:cNvPr id="1" name=""/>
        <p:cNvGrpSpPr/>
        <p:nvPr/>
      </p:nvGrpSpPr>
      <p:grpSpPr>
        <a:xfrm>
          <a:off x="0" y="0"/>
          <a:ext cx="0" cy="0"/>
          <a:chOff x="0" y="0"/>
          <a:chExt cx="0" cy="0"/>
        </a:xfrm>
      </p:grpSpPr>
      <p:grpSp>
        <p:nvGrpSpPr>
          <p:cNvPr name="Group 2" id="2"/>
          <p:cNvGrpSpPr/>
          <p:nvPr/>
        </p:nvGrpSpPr>
        <p:grpSpPr>
          <a:xfrm rot="0">
            <a:off x="-316746" y="9258300"/>
            <a:ext cx="18921492" cy="1543050"/>
            <a:chOff x="0" y="0"/>
            <a:chExt cx="4983438" cy="406400"/>
          </a:xfrm>
        </p:grpSpPr>
        <p:sp>
          <p:nvSpPr>
            <p:cNvPr name="Freeform 3" id="3"/>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FEBF25"/>
            </a:solidFill>
          </p:spPr>
        </p:sp>
        <p:sp>
          <p:nvSpPr>
            <p:cNvPr name="TextBox 4" id="4"/>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15800" y="6172200"/>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0" y="6172200"/>
            <a:ext cx="6172200" cy="4114800"/>
          </a:xfrm>
          <a:custGeom>
            <a:avLst/>
            <a:gdLst/>
            <a:ahLst/>
            <a:cxnLst/>
            <a:rect r="r" b="b" t="t" l="l"/>
            <a:pathLst>
              <a:path h="4114800" w="6172200">
                <a:moveTo>
                  <a:pt x="6172200" y="0"/>
                </a:moveTo>
                <a:lnTo>
                  <a:pt x="0" y="0"/>
                </a:lnTo>
                <a:lnTo>
                  <a:pt x="0" y="4114800"/>
                </a:lnTo>
                <a:lnTo>
                  <a:pt x="6172200" y="4114800"/>
                </a:lnTo>
                <a:lnTo>
                  <a:pt x="6172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0" y="0"/>
            <a:ext cx="2279859" cy="2279859"/>
          </a:xfrm>
          <a:custGeom>
            <a:avLst/>
            <a:gdLst/>
            <a:ahLst/>
            <a:cxnLst/>
            <a:rect r="r" b="b" t="t" l="l"/>
            <a:pathLst>
              <a:path h="2279859" w="2279859">
                <a:moveTo>
                  <a:pt x="2279859" y="0"/>
                </a:moveTo>
                <a:lnTo>
                  <a:pt x="0" y="0"/>
                </a:lnTo>
                <a:lnTo>
                  <a:pt x="0" y="2279859"/>
                </a:lnTo>
                <a:lnTo>
                  <a:pt x="2279859" y="2279859"/>
                </a:lnTo>
                <a:lnTo>
                  <a:pt x="2279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583472" y="1567247"/>
            <a:ext cx="696388" cy="6963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008141" y="0"/>
            <a:ext cx="2279859" cy="2279859"/>
          </a:xfrm>
          <a:custGeom>
            <a:avLst/>
            <a:gdLst/>
            <a:ahLst/>
            <a:cxnLst/>
            <a:rect r="r" b="b" t="t" l="l"/>
            <a:pathLst>
              <a:path h="2279859" w="2279859">
                <a:moveTo>
                  <a:pt x="0" y="0"/>
                </a:moveTo>
                <a:lnTo>
                  <a:pt x="2279859" y="0"/>
                </a:lnTo>
                <a:lnTo>
                  <a:pt x="2279859" y="2279859"/>
                </a:lnTo>
                <a:lnTo>
                  <a:pt x="0" y="2279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6008141" y="1583472"/>
            <a:ext cx="696388" cy="6963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486837" y="47625"/>
            <a:ext cx="696388" cy="69638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3350" y="28575"/>
            <a:ext cx="696388" cy="6963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220621"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6533599"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519812" y="2879529"/>
            <a:ext cx="13085091" cy="5975350"/>
          </a:xfrm>
          <a:prstGeom prst="rect">
            <a:avLst/>
          </a:prstGeom>
        </p:spPr>
        <p:txBody>
          <a:bodyPr anchor="t" rtlCol="false" tIns="0" lIns="0" bIns="0" rIns="0">
            <a:spAutoFit/>
          </a:bodyPr>
          <a:lstStyle/>
          <a:p>
            <a:pPr algn="just">
              <a:lnSpc>
                <a:spcPts val="3500"/>
              </a:lnSpc>
            </a:pPr>
            <a:r>
              <a:rPr lang="en-US" sz="2500" b="true">
                <a:solidFill>
                  <a:srgbClr val="233173"/>
                </a:solidFill>
                <a:latin typeface="Century Gothic Paneuropean Bold"/>
                <a:ea typeface="Century Gothic Paneuropean Bold"/>
                <a:cs typeface="Century Gothic Paneuropean Bold"/>
                <a:sym typeface="Century Gothic Paneuropean Bold"/>
              </a:rPr>
              <a:t>Latar Belakang</a:t>
            </a:r>
          </a:p>
          <a:p>
            <a:pPr algn="just" marL="539751" indent="-269876" lvl="1">
              <a:lnSpc>
                <a:spcPts val="3500"/>
              </a:lnSpc>
              <a:buFont typeface="Arial"/>
              <a:buChar char="•"/>
            </a:pPr>
            <a:r>
              <a:rPr lang="en-US" b="true" sz="2500">
                <a:solidFill>
                  <a:srgbClr val="233173"/>
                </a:solidFill>
                <a:latin typeface="Century Gothic Paneuropean Bold"/>
                <a:ea typeface="Century Gothic Paneuropean Bold"/>
                <a:cs typeface="Century Gothic Paneuropean Bold"/>
                <a:sym typeface="Century Gothic Paneuropean Bold"/>
              </a:rPr>
              <a:t>Analisis profil sosio-ekonomi mahasiswa (UKT, beasiswa, asal daerah) sangat penting sebagai dasar evaluasi kebijakan institusi dan peningkatan mutu pendidikan (Maulana et al., 2024).</a:t>
            </a:r>
          </a:p>
          <a:p>
            <a:pPr algn="just" marL="539751" indent="-269876" lvl="1">
              <a:lnSpc>
                <a:spcPts val="3500"/>
              </a:lnSpc>
              <a:buFont typeface="Arial"/>
              <a:buChar char="•"/>
            </a:pPr>
            <a:r>
              <a:rPr lang="en-US" b="true" sz="2500">
                <a:solidFill>
                  <a:srgbClr val="233173"/>
                </a:solidFill>
                <a:latin typeface="Century Gothic Paneuropean Bold"/>
                <a:ea typeface="Century Gothic Paneuropean Bold"/>
                <a:cs typeface="Century Gothic Paneuropean Bold"/>
                <a:sym typeface="Century Gothic Paneuropean Bold"/>
              </a:rPr>
              <a:t>Fenomena ini menimbulkan pertanyaan penting mengenai distribusi riil beban finansial mahasiswa dan kestabilan pola sosio-ekonomi di lingkungan asrama.</a:t>
            </a:r>
          </a:p>
          <a:p>
            <a:pPr algn="just">
              <a:lnSpc>
                <a:spcPts val="2380"/>
              </a:lnSpc>
            </a:pPr>
          </a:p>
          <a:p>
            <a:pPr algn="just">
              <a:lnSpc>
                <a:spcPts val="3500"/>
              </a:lnSpc>
            </a:pPr>
            <a:r>
              <a:rPr lang="en-US" sz="2500" b="true">
                <a:solidFill>
                  <a:srgbClr val="233173"/>
                </a:solidFill>
                <a:latin typeface="Century Gothic Paneuropean Bold"/>
                <a:ea typeface="Century Gothic Paneuropean Bold"/>
                <a:cs typeface="Century Gothic Paneuropean Bold"/>
                <a:sym typeface="Century Gothic Paneuropean Bold"/>
              </a:rPr>
              <a:t>Tujuan Penelitian</a:t>
            </a:r>
          </a:p>
          <a:p>
            <a:pPr algn="just" marL="539751" indent="-269876" lvl="1">
              <a:lnSpc>
                <a:spcPts val="3500"/>
              </a:lnSpc>
              <a:buFont typeface="Arial"/>
              <a:buChar char="•"/>
            </a:pPr>
            <a:r>
              <a:rPr lang="en-US" b="true" sz="2500">
                <a:solidFill>
                  <a:srgbClr val="233173"/>
                </a:solidFill>
                <a:latin typeface="Century Gothic Paneuropean Bold"/>
                <a:ea typeface="Century Gothic Paneuropean Bold"/>
                <a:cs typeface="Century Gothic Paneuropean Bold"/>
                <a:sym typeface="Century Gothic Paneuropean Bold"/>
              </a:rPr>
              <a:t>Mendeskripsikan distribusi empat variabel sosio-ekonomi mahasiswa (UKT, golongan UKT, status beasiswa, dan asal daerah). </a:t>
            </a:r>
          </a:p>
          <a:p>
            <a:pPr algn="just" marL="539751" indent="-269876" lvl="1">
              <a:lnSpc>
                <a:spcPts val="3500"/>
              </a:lnSpc>
              <a:buFont typeface="Arial"/>
              <a:buChar char="•"/>
            </a:pPr>
            <a:r>
              <a:rPr lang="en-US" b="true" sz="2500">
                <a:solidFill>
                  <a:srgbClr val="233173"/>
                </a:solidFill>
                <a:latin typeface="Century Gothic Paneuropean Bold"/>
                <a:ea typeface="Century Gothic Paneuropean Bold"/>
                <a:cs typeface="Century Gothic Paneuropean Bold"/>
                <a:sym typeface="Century Gothic Paneuropean Bold"/>
              </a:rPr>
              <a:t>Menguji kestabilan parameter statistik dari keempat variabel tersebut menggunakan Jackknife Resampling.</a:t>
            </a:r>
          </a:p>
          <a:p>
            <a:pPr algn="just">
              <a:lnSpc>
                <a:spcPts val="3500"/>
              </a:lnSpc>
            </a:pPr>
          </a:p>
          <a:p>
            <a:pPr algn="just">
              <a:lnSpc>
                <a:spcPts val="3500"/>
              </a:lnSpc>
              <a:spcBef>
                <a:spcPct val="0"/>
              </a:spcBef>
            </a:pPr>
          </a:p>
        </p:txBody>
      </p:sp>
      <p:sp>
        <p:nvSpPr>
          <p:cNvPr name="TextBox 24" id="24"/>
          <p:cNvSpPr txBox="true"/>
          <p:nvPr/>
        </p:nvSpPr>
        <p:spPr>
          <a:xfrm rot="0">
            <a:off x="2519812" y="1934649"/>
            <a:ext cx="13248377" cy="992505"/>
          </a:xfrm>
          <a:prstGeom prst="rect">
            <a:avLst/>
          </a:prstGeom>
        </p:spPr>
        <p:txBody>
          <a:bodyPr anchor="t" rtlCol="false" tIns="0" lIns="0" bIns="0" rIns="0">
            <a:spAutoFit/>
          </a:bodyPr>
          <a:lstStyle/>
          <a:p>
            <a:pPr algn="ctr">
              <a:lnSpc>
                <a:spcPts val="7559"/>
              </a:lnSpc>
            </a:pPr>
            <a:r>
              <a:rPr lang="en-US" b="true" sz="6999">
                <a:solidFill>
                  <a:srgbClr val="233173"/>
                </a:solidFill>
                <a:latin typeface="Croogla Bold"/>
                <a:ea typeface="Croogla Bold"/>
                <a:cs typeface="Croogla Bold"/>
                <a:sym typeface="Croogla Bold"/>
              </a:rPr>
              <a:t>PENDAHULUAN</a:t>
            </a:r>
          </a:p>
        </p:txBody>
      </p:sp>
      <p:grpSp>
        <p:nvGrpSpPr>
          <p:cNvPr name="Group 25" id="25"/>
          <p:cNvGrpSpPr/>
          <p:nvPr/>
        </p:nvGrpSpPr>
        <p:grpSpPr>
          <a:xfrm rot="0">
            <a:off x="6854973" y="541792"/>
            <a:ext cx="4578054" cy="1041680"/>
            <a:chOff x="0" y="0"/>
            <a:chExt cx="6104073" cy="1388906"/>
          </a:xfrm>
        </p:grpSpPr>
        <p:grpSp>
          <p:nvGrpSpPr>
            <p:cNvPr name="Group 26" id="26"/>
            <p:cNvGrpSpPr/>
            <p:nvPr/>
          </p:nvGrpSpPr>
          <p:grpSpPr>
            <a:xfrm rot="0">
              <a:off x="0" y="0"/>
              <a:ext cx="6104073" cy="1388906"/>
              <a:chOff x="0" y="0"/>
              <a:chExt cx="1205743" cy="274352"/>
            </a:xfrm>
          </p:grpSpPr>
          <p:sp>
            <p:nvSpPr>
              <p:cNvPr name="Freeform 27" id="27"/>
              <p:cNvSpPr/>
              <p:nvPr/>
            </p:nvSpPr>
            <p:spPr>
              <a:xfrm flipH="false" flipV="false" rot="0">
                <a:off x="0" y="0"/>
                <a:ext cx="1205743" cy="274352"/>
              </a:xfrm>
              <a:custGeom>
                <a:avLst/>
                <a:gdLst/>
                <a:ahLst/>
                <a:cxnLst/>
                <a:rect r="r" b="b" t="t" l="l"/>
                <a:pathLst>
                  <a:path h="274352" w="1205743">
                    <a:moveTo>
                      <a:pt x="86246" y="0"/>
                    </a:moveTo>
                    <a:lnTo>
                      <a:pt x="1119497" y="0"/>
                    </a:lnTo>
                    <a:cubicBezTo>
                      <a:pt x="1142371" y="0"/>
                      <a:pt x="1164308" y="9087"/>
                      <a:pt x="1180482" y="25261"/>
                    </a:cubicBezTo>
                    <a:cubicBezTo>
                      <a:pt x="1196656" y="41435"/>
                      <a:pt x="1205743" y="63372"/>
                      <a:pt x="1205743" y="86246"/>
                    </a:cubicBezTo>
                    <a:lnTo>
                      <a:pt x="1205743" y="188106"/>
                    </a:lnTo>
                    <a:cubicBezTo>
                      <a:pt x="1205743" y="210980"/>
                      <a:pt x="1196656" y="232917"/>
                      <a:pt x="1180482" y="249091"/>
                    </a:cubicBezTo>
                    <a:cubicBezTo>
                      <a:pt x="1164308" y="265265"/>
                      <a:pt x="1142371" y="274352"/>
                      <a:pt x="1119497" y="274352"/>
                    </a:cubicBezTo>
                    <a:lnTo>
                      <a:pt x="86246" y="274352"/>
                    </a:lnTo>
                    <a:cubicBezTo>
                      <a:pt x="63372" y="274352"/>
                      <a:pt x="41435" y="265265"/>
                      <a:pt x="25261" y="249091"/>
                    </a:cubicBezTo>
                    <a:cubicBezTo>
                      <a:pt x="9087" y="232917"/>
                      <a:pt x="0" y="210980"/>
                      <a:pt x="0" y="188106"/>
                    </a:cubicBezTo>
                    <a:lnTo>
                      <a:pt x="0" y="86246"/>
                    </a:lnTo>
                    <a:cubicBezTo>
                      <a:pt x="0" y="63372"/>
                      <a:pt x="9087" y="41435"/>
                      <a:pt x="25261" y="25261"/>
                    </a:cubicBezTo>
                    <a:cubicBezTo>
                      <a:pt x="41435" y="9087"/>
                      <a:pt x="63372" y="0"/>
                      <a:pt x="86246" y="0"/>
                    </a:cubicBezTo>
                    <a:close/>
                  </a:path>
                </a:pathLst>
              </a:custGeom>
              <a:solidFill>
                <a:srgbClr val="FFFFFF"/>
              </a:solidFill>
            </p:spPr>
          </p:sp>
          <p:sp>
            <p:nvSpPr>
              <p:cNvPr name="TextBox 28" id="28"/>
              <p:cNvSpPr txBox="true"/>
              <p:nvPr/>
            </p:nvSpPr>
            <p:spPr>
              <a:xfrm>
                <a:off x="0" y="-38100"/>
                <a:ext cx="1205743" cy="312452"/>
              </a:xfrm>
              <a:prstGeom prst="rect">
                <a:avLst/>
              </a:prstGeom>
            </p:spPr>
            <p:txBody>
              <a:bodyPr anchor="ctr" rtlCol="false" tIns="50800" lIns="50800" bIns="50800" rIns="50800"/>
              <a:lstStyle/>
              <a:p>
                <a:pPr algn="ctr">
                  <a:lnSpc>
                    <a:spcPts val="2659"/>
                  </a:lnSpc>
                </a:pPr>
              </a:p>
            </p:txBody>
          </p:sp>
        </p:grpSp>
        <p:sp>
          <p:nvSpPr>
            <p:cNvPr name="Freeform 29" id="29"/>
            <p:cNvSpPr/>
            <p:nvPr/>
          </p:nvSpPr>
          <p:spPr>
            <a:xfrm flipH="false" flipV="false" rot="0">
              <a:off x="2372740" y="56308"/>
              <a:ext cx="1124209" cy="1124209"/>
            </a:xfrm>
            <a:custGeom>
              <a:avLst/>
              <a:gdLst/>
              <a:ahLst/>
              <a:cxnLst/>
              <a:rect r="r" b="b" t="t" l="l"/>
              <a:pathLst>
                <a:path h="1124209" w="1124209">
                  <a:moveTo>
                    <a:pt x="0" y="0"/>
                  </a:moveTo>
                  <a:lnTo>
                    <a:pt x="1124209" y="0"/>
                  </a:lnTo>
                  <a:lnTo>
                    <a:pt x="1124209" y="1124209"/>
                  </a:lnTo>
                  <a:lnTo>
                    <a:pt x="0" y="1124209"/>
                  </a:lnTo>
                  <a:lnTo>
                    <a:pt x="0" y="0"/>
                  </a:lnTo>
                  <a:close/>
                </a:path>
              </a:pathLst>
            </a:custGeom>
            <a:blipFill>
              <a:blip r:embed="rId8"/>
              <a:stretch>
                <a:fillRect l="0" t="0" r="0" b="0"/>
              </a:stretch>
            </a:blipFill>
          </p:spPr>
        </p:sp>
        <p:sp>
          <p:nvSpPr>
            <p:cNvPr name="Freeform 30" id="30"/>
            <p:cNvSpPr/>
            <p:nvPr/>
          </p:nvSpPr>
          <p:spPr>
            <a:xfrm flipH="false" flipV="false" rot="0">
              <a:off x="4644101" y="98484"/>
              <a:ext cx="938280" cy="1038569"/>
            </a:xfrm>
            <a:custGeom>
              <a:avLst/>
              <a:gdLst/>
              <a:ahLst/>
              <a:cxnLst/>
              <a:rect r="r" b="b" t="t" l="l"/>
              <a:pathLst>
                <a:path h="1038569" w="938280">
                  <a:moveTo>
                    <a:pt x="0" y="0"/>
                  </a:moveTo>
                  <a:lnTo>
                    <a:pt x="938280" y="0"/>
                  </a:lnTo>
                  <a:lnTo>
                    <a:pt x="938280" y="1038568"/>
                  </a:lnTo>
                  <a:lnTo>
                    <a:pt x="0" y="1038568"/>
                  </a:lnTo>
                  <a:lnTo>
                    <a:pt x="0" y="0"/>
                  </a:lnTo>
                  <a:close/>
                </a:path>
              </a:pathLst>
            </a:custGeom>
            <a:blipFill>
              <a:blip r:embed="rId9"/>
              <a:stretch>
                <a:fillRect l="0" t="0" r="0" b="0"/>
              </a:stretch>
            </a:blipFill>
          </p:spPr>
        </p:sp>
        <p:sp>
          <p:nvSpPr>
            <p:cNvPr name="Freeform 31" id="31"/>
            <p:cNvSpPr/>
            <p:nvPr/>
          </p:nvSpPr>
          <p:spPr>
            <a:xfrm flipH="false" flipV="false" rot="0">
              <a:off x="3496949" y="98484"/>
              <a:ext cx="1044322" cy="1039859"/>
            </a:xfrm>
            <a:custGeom>
              <a:avLst/>
              <a:gdLst/>
              <a:ahLst/>
              <a:cxnLst/>
              <a:rect r="r" b="b" t="t" l="l"/>
              <a:pathLst>
                <a:path h="1039859" w="1044322">
                  <a:moveTo>
                    <a:pt x="0" y="0"/>
                  </a:moveTo>
                  <a:lnTo>
                    <a:pt x="1044322" y="0"/>
                  </a:lnTo>
                  <a:lnTo>
                    <a:pt x="1044322" y="1039858"/>
                  </a:lnTo>
                  <a:lnTo>
                    <a:pt x="0" y="1039858"/>
                  </a:lnTo>
                  <a:lnTo>
                    <a:pt x="0" y="0"/>
                  </a:lnTo>
                  <a:close/>
                </a:path>
              </a:pathLst>
            </a:custGeom>
            <a:blipFill>
              <a:blip r:embed="rId10"/>
              <a:stretch>
                <a:fillRect l="0" t="0" r="0" b="0"/>
              </a:stretch>
            </a:blipFill>
          </p:spPr>
        </p:sp>
        <p:sp>
          <p:nvSpPr>
            <p:cNvPr name="Freeform 32" id="32"/>
            <p:cNvSpPr/>
            <p:nvPr/>
          </p:nvSpPr>
          <p:spPr>
            <a:xfrm flipH="false" flipV="false" rot="0">
              <a:off x="1496830" y="98484"/>
              <a:ext cx="1039859" cy="1039859"/>
            </a:xfrm>
            <a:custGeom>
              <a:avLst/>
              <a:gdLst/>
              <a:ahLst/>
              <a:cxnLst/>
              <a:rect r="r" b="b" t="t" l="l"/>
              <a:pathLst>
                <a:path h="1039859" w="1039859">
                  <a:moveTo>
                    <a:pt x="0" y="0"/>
                  </a:moveTo>
                  <a:lnTo>
                    <a:pt x="1039858" y="0"/>
                  </a:lnTo>
                  <a:lnTo>
                    <a:pt x="1039858" y="1039858"/>
                  </a:lnTo>
                  <a:lnTo>
                    <a:pt x="0" y="1039858"/>
                  </a:lnTo>
                  <a:lnTo>
                    <a:pt x="0" y="0"/>
                  </a:lnTo>
                  <a:close/>
                </a:path>
              </a:pathLst>
            </a:custGeom>
            <a:blipFill>
              <a:blip r:embed="rId11"/>
              <a:stretch>
                <a:fillRect l="0" t="0" r="0" b="0"/>
              </a:stretch>
            </a:blipFill>
          </p:spPr>
        </p:sp>
        <p:sp>
          <p:nvSpPr>
            <p:cNvPr name="Freeform 33" id="33"/>
            <p:cNvSpPr/>
            <p:nvPr/>
          </p:nvSpPr>
          <p:spPr>
            <a:xfrm flipH="false" flipV="false" rot="0">
              <a:off x="362098" y="122166"/>
              <a:ext cx="1033131" cy="1033131"/>
            </a:xfrm>
            <a:custGeom>
              <a:avLst/>
              <a:gdLst/>
              <a:ahLst/>
              <a:cxnLst/>
              <a:rect r="r" b="b" t="t" l="l"/>
              <a:pathLst>
                <a:path h="1033131" w="1033131">
                  <a:moveTo>
                    <a:pt x="0" y="0"/>
                  </a:moveTo>
                  <a:lnTo>
                    <a:pt x="1033132" y="0"/>
                  </a:lnTo>
                  <a:lnTo>
                    <a:pt x="1033132" y="1033132"/>
                  </a:lnTo>
                  <a:lnTo>
                    <a:pt x="0" y="1033132"/>
                  </a:lnTo>
                  <a:lnTo>
                    <a:pt x="0" y="0"/>
                  </a:lnTo>
                  <a:close/>
                </a:path>
              </a:pathLst>
            </a:custGeom>
            <a:blipFill>
              <a:blip r:embed="rId12"/>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33173"/>
        </a:solidFill>
      </p:bgPr>
    </p:bg>
    <p:spTree>
      <p:nvGrpSpPr>
        <p:cNvPr id="1" name=""/>
        <p:cNvGrpSpPr/>
        <p:nvPr/>
      </p:nvGrpSpPr>
      <p:grpSpPr>
        <a:xfrm>
          <a:off x="0" y="0"/>
          <a:ext cx="0" cy="0"/>
          <a:chOff x="0" y="0"/>
          <a:chExt cx="0" cy="0"/>
        </a:xfrm>
      </p:grpSpPr>
      <p:grpSp>
        <p:nvGrpSpPr>
          <p:cNvPr name="Group 2" id="2"/>
          <p:cNvGrpSpPr/>
          <p:nvPr/>
        </p:nvGrpSpPr>
        <p:grpSpPr>
          <a:xfrm rot="0">
            <a:off x="-316746" y="9258300"/>
            <a:ext cx="18921492" cy="1543050"/>
            <a:chOff x="0" y="0"/>
            <a:chExt cx="4983438" cy="406400"/>
          </a:xfrm>
        </p:grpSpPr>
        <p:sp>
          <p:nvSpPr>
            <p:cNvPr name="Freeform 3" id="3"/>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1C75FF"/>
            </a:solidFill>
          </p:spPr>
        </p:sp>
        <p:sp>
          <p:nvSpPr>
            <p:cNvPr name="TextBox 4" id="4"/>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15800" y="6172200"/>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0" y="6172200"/>
            <a:ext cx="6172200" cy="4114800"/>
          </a:xfrm>
          <a:custGeom>
            <a:avLst/>
            <a:gdLst/>
            <a:ahLst/>
            <a:cxnLst/>
            <a:rect r="r" b="b" t="t" l="l"/>
            <a:pathLst>
              <a:path h="4114800" w="6172200">
                <a:moveTo>
                  <a:pt x="6172200" y="0"/>
                </a:moveTo>
                <a:lnTo>
                  <a:pt x="0" y="0"/>
                </a:lnTo>
                <a:lnTo>
                  <a:pt x="0" y="4114800"/>
                </a:lnTo>
                <a:lnTo>
                  <a:pt x="6172200" y="4114800"/>
                </a:lnTo>
                <a:lnTo>
                  <a:pt x="6172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0" y="0"/>
            <a:ext cx="2279859" cy="2279859"/>
          </a:xfrm>
          <a:custGeom>
            <a:avLst/>
            <a:gdLst/>
            <a:ahLst/>
            <a:cxnLst/>
            <a:rect r="r" b="b" t="t" l="l"/>
            <a:pathLst>
              <a:path h="2279859" w="2279859">
                <a:moveTo>
                  <a:pt x="2279859" y="0"/>
                </a:moveTo>
                <a:lnTo>
                  <a:pt x="0" y="0"/>
                </a:lnTo>
                <a:lnTo>
                  <a:pt x="0" y="2279859"/>
                </a:lnTo>
                <a:lnTo>
                  <a:pt x="2279859" y="2279859"/>
                </a:lnTo>
                <a:lnTo>
                  <a:pt x="2279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583472" y="1567247"/>
            <a:ext cx="696388" cy="6963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008141" y="0"/>
            <a:ext cx="2279859" cy="2279859"/>
          </a:xfrm>
          <a:custGeom>
            <a:avLst/>
            <a:gdLst/>
            <a:ahLst/>
            <a:cxnLst/>
            <a:rect r="r" b="b" t="t" l="l"/>
            <a:pathLst>
              <a:path h="2279859" w="2279859">
                <a:moveTo>
                  <a:pt x="0" y="0"/>
                </a:moveTo>
                <a:lnTo>
                  <a:pt x="2279859" y="0"/>
                </a:lnTo>
                <a:lnTo>
                  <a:pt x="2279859" y="2279859"/>
                </a:lnTo>
                <a:lnTo>
                  <a:pt x="0" y="2279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6008141" y="1583472"/>
            <a:ext cx="696388" cy="6963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486837" y="47625"/>
            <a:ext cx="696388" cy="69638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3350" y="28575"/>
            <a:ext cx="696388" cy="6963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220621"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6533599"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515493" y="3107556"/>
            <a:ext cx="12840146" cy="4653280"/>
          </a:xfrm>
          <a:prstGeom prst="rect">
            <a:avLst/>
          </a:prstGeom>
        </p:spPr>
        <p:txBody>
          <a:bodyPr anchor="t" rtlCol="false" tIns="0" lIns="0" bIns="0" rIns="0">
            <a:spAutoFit/>
          </a:bodyPr>
          <a:lstStyle/>
          <a:p>
            <a:pPr algn="just" marL="604519" indent="-302260" lvl="1">
              <a:lnSpc>
                <a:spcPts val="3919"/>
              </a:lnSpc>
              <a:buFont typeface="Arial"/>
              <a:buChar char="•"/>
            </a:pPr>
            <a:r>
              <a:rPr lang="en-US" sz="2799">
                <a:solidFill>
                  <a:srgbClr val="FFFFFF"/>
                </a:solidFill>
                <a:latin typeface="Century Gothic Paneuropean"/>
                <a:ea typeface="Century Gothic Paneuropean"/>
                <a:cs typeface="Century Gothic Paneuropean"/>
                <a:sym typeface="Century Gothic Paneuropean"/>
              </a:rPr>
              <a:t>Statistik Deskriptif: Digunakan sebagai landasan awal untuk memprofilkan kondisi mahasiswa melalui ukuran pemusatan dan penyebaran. </a:t>
            </a:r>
          </a:p>
          <a:p>
            <a:pPr algn="just">
              <a:lnSpc>
                <a:spcPts val="2800"/>
              </a:lnSpc>
            </a:pPr>
          </a:p>
          <a:p>
            <a:pPr algn="just" marL="604519" indent="-302260" lvl="1">
              <a:lnSpc>
                <a:spcPts val="3919"/>
              </a:lnSpc>
              <a:buFont typeface="Arial"/>
              <a:buChar char="•"/>
            </a:pPr>
            <a:r>
              <a:rPr lang="en-US" sz="2799">
                <a:solidFill>
                  <a:srgbClr val="FFFFFF"/>
                </a:solidFill>
                <a:latin typeface="Century Gothic Paneuropean"/>
                <a:ea typeface="Century Gothic Paneuropean"/>
                <a:cs typeface="Century Gothic Paneuropean"/>
                <a:sym typeface="Century Gothic Paneuropean"/>
              </a:rPr>
              <a:t>Selain analisis deskriptif, metode Jackknife Resampling diterapkan untuk menilai kestabilan parameter. </a:t>
            </a:r>
          </a:p>
          <a:p>
            <a:pPr algn="just">
              <a:lnSpc>
                <a:spcPts val="2800"/>
              </a:lnSpc>
            </a:pPr>
          </a:p>
          <a:p>
            <a:pPr algn="just" marL="604519" indent="-302260" lvl="1">
              <a:lnSpc>
                <a:spcPts val="3919"/>
              </a:lnSpc>
              <a:buFont typeface="Arial"/>
              <a:buChar char="•"/>
            </a:pPr>
            <a:r>
              <a:rPr lang="en-US" sz="2799">
                <a:solidFill>
                  <a:srgbClr val="FFFFFF"/>
                </a:solidFill>
                <a:latin typeface="Century Gothic Paneuropean"/>
                <a:ea typeface="Century Gothic Paneuropean"/>
                <a:cs typeface="Century Gothic Paneuropean"/>
                <a:sym typeface="Century Gothic Paneuropean"/>
              </a:rPr>
              <a:t>Selanjutnya, penerapan Jackknife pada data pendidikan ini berfokus pada pendugaan bias dan galat baku melalui pendekatan leave-one-out.</a:t>
            </a:r>
          </a:p>
        </p:txBody>
      </p:sp>
      <p:sp>
        <p:nvSpPr>
          <p:cNvPr name="TextBox 24" id="24"/>
          <p:cNvSpPr txBox="true"/>
          <p:nvPr/>
        </p:nvSpPr>
        <p:spPr>
          <a:xfrm rot="0">
            <a:off x="2515493" y="1998340"/>
            <a:ext cx="13257013" cy="992516"/>
          </a:xfrm>
          <a:prstGeom prst="rect">
            <a:avLst/>
          </a:prstGeom>
        </p:spPr>
        <p:txBody>
          <a:bodyPr anchor="t" rtlCol="false" tIns="0" lIns="0" bIns="0" rIns="0">
            <a:spAutoFit/>
          </a:bodyPr>
          <a:lstStyle/>
          <a:p>
            <a:pPr algn="ctr">
              <a:lnSpc>
                <a:spcPts val="7560"/>
              </a:lnSpc>
            </a:pPr>
            <a:r>
              <a:rPr lang="en-US" b="true" sz="7000">
                <a:solidFill>
                  <a:srgbClr val="FFFFFF"/>
                </a:solidFill>
                <a:latin typeface="Croogla Bold"/>
                <a:ea typeface="Croogla Bold"/>
                <a:cs typeface="Croogla Bold"/>
                <a:sym typeface="Croogla Bold"/>
              </a:rPr>
              <a:t>METODOLOGI PENELITIAN</a:t>
            </a:r>
          </a:p>
        </p:txBody>
      </p:sp>
      <p:grpSp>
        <p:nvGrpSpPr>
          <p:cNvPr name="Group 25" id="25"/>
          <p:cNvGrpSpPr/>
          <p:nvPr/>
        </p:nvGrpSpPr>
        <p:grpSpPr>
          <a:xfrm rot="0">
            <a:off x="6854973" y="541792"/>
            <a:ext cx="4578054" cy="1041680"/>
            <a:chOff x="0" y="0"/>
            <a:chExt cx="6104073" cy="1388906"/>
          </a:xfrm>
        </p:grpSpPr>
        <p:grpSp>
          <p:nvGrpSpPr>
            <p:cNvPr name="Group 26" id="26"/>
            <p:cNvGrpSpPr/>
            <p:nvPr/>
          </p:nvGrpSpPr>
          <p:grpSpPr>
            <a:xfrm rot="0">
              <a:off x="0" y="0"/>
              <a:ext cx="6104073" cy="1388906"/>
              <a:chOff x="0" y="0"/>
              <a:chExt cx="1205743" cy="274352"/>
            </a:xfrm>
          </p:grpSpPr>
          <p:sp>
            <p:nvSpPr>
              <p:cNvPr name="Freeform 27" id="27"/>
              <p:cNvSpPr/>
              <p:nvPr/>
            </p:nvSpPr>
            <p:spPr>
              <a:xfrm flipH="false" flipV="false" rot="0">
                <a:off x="0" y="0"/>
                <a:ext cx="1205743" cy="274352"/>
              </a:xfrm>
              <a:custGeom>
                <a:avLst/>
                <a:gdLst/>
                <a:ahLst/>
                <a:cxnLst/>
                <a:rect r="r" b="b" t="t" l="l"/>
                <a:pathLst>
                  <a:path h="274352" w="1205743">
                    <a:moveTo>
                      <a:pt x="86246" y="0"/>
                    </a:moveTo>
                    <a:lnTo>
                      <a:pt x="1119497" y="0"/>
                    </a:lnTo>
                    <a:cubicBezTo>
                      <a:pt x="1142371" y="0"/>
                      <a:pt x="1164308" y="9087"/>
                      <a:pt x="1180482" y="25261"/>
                    </a:cubicBezTo>
                    <a:cubicBezTo>
                      <a:pt x="1196656" y="41435"/>
                      <a:pt x="1205743" y="63372"/>
                      <a:pt x="1205743" y="86246"/>
                    </a:cubicBezTo>
                    <a:lnTo>
                      <a:pt x="1205743" y="188106"/>
                    </a:lnTo>
                    <a:cubicBezTo>
                      <a:pt x="1205743" y="210980"/>
                      <a:pt x="1196656" y="232917"/>
                      <a:pt x="1180482" y="249091"/>
                    </a:cubicBezTo>
                    <a:cubicBezTo>
                      <a:pt x="1164308" y="265265"/>
                      <a:pt x="1142371" y="274352"/>
                      <a:pt x="1119497" y="274352"/>
                    </a:cubicBezTo>
                    <a:lnTo>
                      <a:pt x="86246" y="274352"/>
                    </a:lnTo>
                    <a:cubicBezTo>
                      <a:pt x="63372" y="274352"/>
                      <a:pt x="41435" y="265265"/>
                      <a:pt x="25261" y="249091"/>
                    </a:cubicBezTo>
                    <a:cubicBezTo>
                      <a:pt x="9087" y="232917"/>
                      <a:pt x="0" y="210980"/>
                      <a:pt x="0" y="188106"/>
                    </a:cubicBezTo>
                    <a:lnTo>
                      <a:pt x="0" y="86246"/>
                    </a:lnTo>
                    <a:cubicBezTo>
                      <a:pt x="0" y="63372"/>
                      <a:pt x="9087" y="41435"/>
                      <a:pt x="25261" y="25261"/>
                    </a:cubicBezTo>
                    <a:cubicBezTo>
                      <a:pt x="41435" y="9087"/>
                      <a:pt x="63372" y="0"/>
                      <a:pt x="86246" y="0"/>
                    </a:cubicBezTo>
                    <a:close/>
                  </a:path>
                </a:pathLst>
              </a:custGeom>
              <a:solidFill>
                <a:srgbClr val="FFFFFF"/>
              </a:solidFill>
            </p:spPr>
          </p:sp>
          <p:sp>
            <p:nvSpPr>
              <p:cNvPr name="TextBox 28" id="28"/>
              <p:cNvSpPr txBox="true"/>
              <p:nvPr/>
            </p:nvSpPr>
            <p:spPr>
              <a:xfrm>
                <a:off x="0" y="-38100"/>
                <a:ext cx="1205743" cy="312452"/>
              </a:xfrm>
              <a:prstGeom prst="rect">
                <a:avLst/>
              </a:prstGeom>
            </p:spPr>
            <p:txBody>
              <a:bodyPr anchor="ctr" rtlCol="false" tIns="50800" lIns="50800" bIns="50800" rIns="50800"/>
              <a:lstStyle/>
              <a:p>
                <a:pPr algn="ctr">
                  <a:lnSpc>
                    <a:spcPts val="2659"/>
                  </a:lnSpc>
                </a:pPr>
              </a:p>
            </p:txBody>
          </p:sp>
        </p:grpSp>
        <p:sp>
          <p:nvSpPr>
            <p:cNvPr name="Freeform 29" id="29"/>
            <p:cNvSpPr/>
            <p:nvPr/>
          </p:nvSpPr>
          <p:spPr>
            <a:xfrm flipH="false" flipV="false" rot="0">
              <a:off x="2372740" y="56308"/>
              <a:ext cx="1124209" cy="1124209"/>
            </a:xfrm>
            <a:custGeom>
              <a:avLst/>
              <a:gdLst/>
              <a:ahLst/>
              <a:cxnLst/>
              <a:rect r="r" b="b" t="t" l="l"/>
              <a:pathLst>
                <a:path h="1124209" w="1124209">
                  <a:moveTo>
                    <a:pt x="0" y="0"/>
                  </a:moveTo>
                  <a:lnTo>
                    <a:pt x="1124209" y="0"/>
                  </a:lnTo>
                  <a:lnTo>
                    <a:pt x="1124209" y="1124209"/>
                  </a:lnTo>
                  <a:lnTo>
                    <a:pt x="0" y="1124209"/>
                  </a:lnTo>
                  <a:lnTo>
                    <a:pt x="0" y="0"/>
                  </a:lnTo>
                  <a:close/>
                </a:path>
              </a:pathLst>
            </a:custGeom>
            <a:blipFill>
              <a:blip r:embed="rId8"/>
              <a:stretch>
                <a:fillRect l="0" t="0" r="0" b="0"/>
              </a:stretch>
            </a:blipFill>
          </p:spPr>
        </p:sp>
        <p:sp>
          <p:nvSpPr>
            <p:cNvPr name="Freeform 30" id="30"/>
            <p:cNvSpPr/>
            <p:nvPr/>
          </p:nvSpPr>
          <p:spPr>
            <a:xfrm flipH="false" flipV="false" rot="0">
              <a:off x="4644101" y="98484"/>
              <a:ext cx="938280" cy="1038569"/>
            </a:xfrm>
            <a:custGeom>
              <a:avLst/>
              <a:gdLst/>
              <a:ahLst/>
              <a:cxnLst/>
              <a:rect r="r" b="b" t="t" l="l"/>
              <a:pathLst>
                <a:path h="1038569" w="938280">
                  <a:moveTo>
                    <a:pt x="0" y="0"/>
                  </a:moveTo>
                  <a:lnTo>
                    <a:pt x="938280" y="0"/>
                  </a:lnTo>
                  <a:lnTo>
                    <a:pt x="938280" y="1038568"/>
                  </a:lnTo>
                  <a:lnTo>
                    <a:pt x="0" y="1038568"/>
                  </a:lnTo>
                  <a:lnTo>
                    <a:pt x="0" y="0"/>
                  </a:lnTo>
                  <a:close/>
                </a:path>
              </a:pathLst>
            </a:custGeom>
            <a:blipFill>
              <a:blip r:embed="rId9"/>
              <a:stretch>
                <a:fillRect l="0" t="0" r="0" b="0"/>
              </a:stretch>
            </a:blipFill>
          </p:spPr>
        </p:sp>
        <p:sp>
          <p:nvSpPr>
            <p:cNvPr name="Freeform 31" id="31"/>
            <p:cNvSpPr/>
            <p:nvPr/>
          </p:nvSpPr>
          <p:spPr>
            <a:xfrm flipH="false" flipV="false" rot="0">
              <a:off x="3496949" y="98484"/>
              <a:ext cx="1044322" cy="1039859"/>
            </a:xfrm>
            <a:custGeom>
              <a:avLst/>
              <a:gdLst/>
              <a:ahLst/>
              <a:cxnLst/>
              <a:rect r="r" b="b" t="t" l="l"/>
              <a:pathLst>
                <a:path h="1039859" w="1044322">
                  <a:moveTo>
                    <a:pt x="0" y="0"/>
                  </a:moveTo>
                  <a:lnTo>
                    <a:pt x="1044322" y="0"/>
                  </a:lnTo>
                  <a:lnTo>
                    <a:pt x="1044322" y="1039858"/>
                  </a:lnTo>
                  <a:lnTo>
                    <a:pt x="0" y="1039858"/>
                  </a:lnTo>
                  <a:lnTo>
                    <a:pt x="0" y="0"/>
                  </a:lnTo>
                  <a:close/>
                </a:path>
              </a:pathLst>
            </a:custGeom>
            <a:blipFill>
              <a:blip r:embed="rId10"/>
              <a:stretch>
                <a:fillRect l="0" t="0" r="0" b="0"/>
              </a:stretch>
            </a:blipFill>
          </p:spPr>
        </p:sp>
        <p:sp>
          <p:nvSpPr>
            <p:cNvPr name="Freeform 32" id="32"/>
            <p:cNvSpPr/>
            <p:nvPr/>
          </p:nvSpPr>
          <p:spPr>
            <a:xfrm flipH="false" flipV="false" rot="0">
              <a:off x="1496830" y="98484"/>
              <a:ext cx="1039859" cy="1039859"/>
            </a:xfrm>
            <a:custGeom>
              <a:avLst/>
              <a:gdLst/>
              <a:ahLst/>
              <a:cxnLst/>
              <a:rect r="r" b="b" t="t" l="l"/>
              <a:pathLst>
                <a:path h="1039859" w="1039859">
                  <a:moveTo>
                    <a:pt x="0" y="0"/>
                  </a:moveTo>
                  <a:lnTo>
                    <a:pt x="1039858" y="0"/>
                  </a:lnTo>
                  <a:lnTo>
                    <a:pt x="1039858" y="1039858"/>
                  </a:lnTo>
                  <a:lnTo>
                    <a:pt x="0" y="1039858"/>
                  </a:lnTo>
                  <a:lnTo>
                    <a:pt x="0" y="0"/>
                  </a:lnTo>
                  <a:close/>
                </a:path>
              </a:pathLst>
            </a:custGeom>
            <a:blipFill>
              <a:blip r:embed="rId11"/>
              <a:stretch>
                <a:fillRect l="0" t="0" r="0" b="0"/>
              </a:stretch>
            </a:blipFill>
          </p:spPr>
        </p:sp>
        <p:sp>
          <p:nvSpPr>
            <p:cNvPr name="Freeform 33" id="33"/>
            <p:cNvSpPr/>
            <p:nvPr/>
          </p:nvSpPr>
          <p:spPr>
            <a:xfrm flipH="false" flipV="false" rot="0">
              <a:off x="362098" y="122166"/>
              <a:ext cx="1033131" cy="1033131"/>
            </a:xfrm>
            <a:custGeom>
              <a:avLst/>
              <a:gdLst/>
              <a:ahLst/>
              <a:cxnLst/>
              <a:rect r="r" b="b" t="t" l="l"/>
              <a:pathLst>
                <a:path h="1033131" w="1033131">
                  <a:moveTo>
                    <a:pt x="0" y="0"/>
                  </a:moveTo>
                  <a:lnTo>
                    <a:pt x="1033132" y="0"/>
                  </a:lnTo>
                  <a:lnTo>
                    <a:pt x="1033132" y="1033132"/>
                  </a:lnTo>
                  <a:lnTo>
                    <a:pt x="0" y="1033132"/>
                  </a:lnTo>
                  <a:lnTo>
                    <a:pt x="0" y="0"/>
                  </a:lnTo>
                  <a:close/>
                </a:path>
              </a:pathLst>
            </a:custGeom>
            <a:blipFill>
              <a:blip r:embed="rId12"/>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33173"/>
        </a:solidFill>
      </p:bgPr>
    </p:bg>
    <p:spTree>
      <p:nvGrpSpPr>
        <p:cNvPr id="1" name=""/>
        <p:cNvGrpSpPr/>
        <p:nvPr/>
      </p:nvGrpSpPr>
      <p:grpSpPr>
        <a:xfrm>
          <a:off x="0" y="0"/>
          <a:ext cx="0" cy="0"/>
          <a:chOff x="0" y="0"/>
          <a:chExt cx="0" cy="0"/>
        </a:xfrm>
      </p:grpSpPr>
      <p:grpSp>
        <p:nvGrpSpPr>
          <p:cNvPr name="Group 2" id="2"/>
          <p:cNvGrpSpPr/>
          <p:nvPr/>
        </p:nvGrpSpPr>
        <p:grpSpPr>
          <a:xfrm rot="0">
            <a:off x="-316746" y="9258300"/>
            <a:ext cx="18921492" cy="1543050"/>
            <a:chOff x="0" y="0"/>
            <a:chExt cx="4983438" cy="406400"/>
          </a:xfrm>
        </p:grpSpPr>
        <p:sp>
          <p:nvSpPr>
            <p:cNvPr name="Freeform 3" id="3"/>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1C75FF"/>
            </a:solidFill>
          </p:spPr>
        </p:sp>
        <p:sp>
          <p:nvSpPr>
            <p:cNvPr name="TextBox 4" id="4"/>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15800" y="6172200"/>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0" y="6172200"/>
            <a:ext cx="6172200" cy="4114800"/>
          </a:xfrm>
          <a:custGeom>
            <a:avLst/>
            <a:gdLst/>
            <a:ahLst/>
            <a:cxnLst/>
            <a:rect r="r" b="b" t="t" l="l"/>
            <a:pathLst>
              <a:path h="4114800" w="6172200">
                <a:moveTo>
                  <a:pt x="6172200" y="0"/>
                </a:moveTo>
                <a:lnTo>
                  <a:pt x="0" y="0"/>
                </a:lnTo>
                <a:lnTo>
                  <a:pt x="0" y="4114800"/>
                </a:lnTo>
                <a:lnTo>
                  <a:pt x="6172200" y="4114800"/>
                </a:lnTo>
                <a:lnTo>
                  <a:pt x="6172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0" y="0"/>
            <a:ext cx="2279859" cy="2279859"/>
          </a:xfrm>
          <a:custGeom>
            <a:avLst/>
            <a:gdLst/>
            <a:ahLst/>
            <a:cxnLst/>
            <a:rect r="r" b="b" t="t" l="l"/>
            <a:pathLst>
              <a:path h="2279859" w="2279859">
                <a:moveTo>
                  <a:pt x="2279859" y="0"/>
                </a:moveTo>
                <a:lnTo>
                  <a:pt x="0" y="0"/>
                </a:lnTo>
                <a:lnTo>
                  <a:pt x="0" y="2279859"/>
                </a:lnTo>
                <a:lnTo>
                  <a:pt x="2279859" y="2279859"/>
                </a:lnTo>
                <a:lnTo>
                  <a:pt x="2279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583472" y="1567247"/>
            <a:ext cx="696388" cy="6963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008141" y="0"/>
            <a:ext cx="2279859" cy="2279859"/>
          </a:xfrm>
          <a:custGeom>
            <a:avLst/>
            <a:gdLst/>
            <a:ahLst/>
            <a:cxnLst/>
            <a:rect r="r" b="b" t="t" l="l"/>
            <a:pathLst>
              <a:path h="2279859" w="2279859">
                <a:moveTo>
                  <a:pt x="0" y="0"/>
                </a:moveTo>
                <a:lnTo>
                  <a:pt x="2279859" y="0"/>
                </a:lnTo>
                <a:lnTo>
                  <a:pt x="2279859" y="2279859"/>
                </a:lnTo>
                <a:lnTo>
                  <a:pt x="0" y="2279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6008141" y="1583472"/>
            <a:ext cx="696388" cy="6963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486837" y="47625"/>
            <a:ext cx="696388" cy="69638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3350" y="28575"/>
            <a:ext cx="696388" cy="6963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220621"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6533599"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584757" y="3153147"/>
            <a:ext cx="13118486" cy="2150745"/>
          </a:xfrm>
          <a:prstGeom prst="rect">
            <a:avLst/>
          </a:prstGeom>
        </p:spPr>
        <p:txBody>
          <a:bodyPr anchor="t" rtlCol="false" tIns="0" lIns="0" bIns="0" rIns="0">
            <a:spAutoFit/>
          </a:bodyPr>
          <a:lstStyle/>
          <a:p>
            <a:pPr algn="just">
              <a:lnSpc>
                <a:spcPts val="3779"/>
              </a:lnSpc>
            </a:pPr>
            <a:r>
              <a:rPr lang="en-US" sz="2700">
                <a:solidFill>
                  <a:srgbClr val="FFFFFF"/>
                </a:solidFill>
                <a:latin typeface="Century Gothic Paneuropean"/>
                <a:ea typeface="Century Gothic Paneuropean"/>
                <a:cs typeface="Century Gothic Paneuropean"/>
                <a:sym typeface="Century Gothic Paneuropean"/>
              </a:rPr>
              <a:t>Jackknife adalah teknik statistik untuk mengevaluasi kestabilan parameter dengan menghapus satu observasi data pada setiap iterasi (leave-one-out).</a:t>
            </a:r>
          </a:p>
          <a:p>
            <a:pPr algn="just">
              <a:lnSpc>
                <a:spcPts val="2100"/>
              </a:lnSpc>
            </a:pPr>
          </a:p>
          <a:p>
            <a:pPr algn="just">
              <a:lnSpc>
                <a:spcPts val="3779"/>
              </a:lnSpc>
            </a:pPr>
            <a:r>
              <a:rPr lang="en-US" sz="2700">
                <a:solidFill>
                  <a:srgbClr val="FFFFFF"/>
                </a:solidFill>
                <a:latin typeface="Century Gothic Paneuropean"/>
                <a:ea typeface="Century Gothic Paneuropean"/>
                <a:cs typeface="Century Gothic Paneuropean"/>
                <a:sym typeface="Century Gothic Paneuropean"/>
              </a:rPr>
              <a:t>Metode ini digunakan untuk menghitung bias dan variansi estimator, memastikan data tidak sensitif terhadap outlier.</a:t>
            </a:r>
          </a:p>
        </p:txBody>
      </p:sp>
      <p:sp>
        <p:nvSpPr>
          <p:cNvPr name="Freeform 24" id="24"/>
          <p:cNvSpPr/>
          <p:nvPr/>
        </p:nvSpPr>
        <p:spPr>
          <a:xfrm flipH="false" flipV="false" rot="0">
            <a:off x="6534689" y="6306689"/>
            <a:ext cx="5218622" cy="1123232"/>
          </a:xfrm>
          <a:custGeom>
            <a:avLst/>
            <a:gdLst/>
            <a:ahLst/>
            <a:cxnLst/>
            <a:rect r="r" b="b" t="t" l="l"/>
            <a:pathLst>
              <a:path h="1123232" w="5218622">
                <a:moveTo>
                  <a:pt x="0" y="0"/>
                </a:moveTo>
                <a:lnTo>
                  <a:pt x="5218622" y="0"/>
                </a:lnTo>
                <a:lnTo>
                  <a:pt x="5218622" y="1123232"/>
                </a:lnTo>
                <a:lnTo>
                  <a:pt x="0" y="1123232"/>
                </a:lnTo>
                <a:lnTo>
                  <a:pt x="0" y="0"/>
                </a:lnTo>
                <a:close/>
              </a:path>
            </a:pathLst>
          </a:custGeom>
          <a:blipFill>
            <a:blip r:embed="rId8"/>
            <a:stretch>
              <a:fillRect l="-18233" t="0" r="-19970" b="0"/>
            </a:stretch>
          </a:blipFill>
        </p:spPr>
      </p:sp>
      <p:sp>
        <p:nvSpPr>
          <p:cNvPr name="TextBox 25" id="25"/>
          <p:cNvSpPr txBox="true"/>
          <p:nvPr/>
        </p:nvSpPr>
        <p:spPr>
          <a:xfrm rot="0">
            <a:off x="2515493" y="2153140"/>
            <a:ext cx="13257013" cy="788682"/>
          </a:xfrm>
          <a:prstGeom prst="rect">
            <a:avLst/>
          </a:prstGeom>
        </p:spPr>
        <p:txBody>
          <a:bodyPr anchor="t" rtlCol="false" tIns="0" lIns="0" bIns="0" rIns="0">
            <a:spAutoFit/>
          </a:bodyPr>
          <a:lstStyle/>
          <a:p>
            <a:pPr algn="ctr">
              <a:lnSpc>
                <a:spcPts val="5940"/>
              </a:lnSpc>
            </a:pPr>
            <a:r>
              <a:rPr lang="en-US" b="true" sz="5500">
                <a:solidFill>
                  <a:srgbClr val="FFFFFF"/>
                </a:solidFill>
                <a:latin typeface="Croogla Bold"/>
                <a:ea typeface="Croogla Bold"/>
                <a:cs typeface="Croogla Bold"/>
                <a:sym typeface="Croogla Bold"/>
              </a:rPr>
              <a:t>METODE JACKKNIFE RESAMPLING</a:t>
            </a:r>
          </a:p>
        </p:txBody>
      </p:sp>
      <p:sp>
        <p:nvSpPr>
          <p:cNvPr name="TextBox 26" id="26"/>
          <p:cNvSpPr txBox="true"/>
          <p:nvPr/>
        </p:nvSpPr>
        <p:spPr>
          <a:xfrm rot="0">
            <a:off x="4646691" y="5594219"/>
            <a:ext cx="12840146" cy="455295"/>
          </a:xfrm>
          <a:prstGeom prst="rect">
            <a:avLst/>
          </a:prstGeom>
        </p:spPr>
        <p:txBody>
          <a:bodyPr anchor="t" rtlCol="false" tIns="0" lIns="0" bIns="0" rIns="0">
            <a:spAutoFit/>
          </a:bodyPr>
          <a:lstStyle/>
          <a:p>
            <a:pPr algn="just">
              <a:lnSpc>
                <a:spcPts val="3779"/>
              </a:lnSpc>
            </a:pPr>
            <a:r>
              <a:rPr lang="en-US" b="true" sz="2700">
                <a:solidFill>
                  <a:srgbClr val="FFFFFF"/>
                </a:solidFill>
                <a:latin typeface="Century Gothic Paneuropean Bold"/>
                <a:ea typeface="Century Gothic Paneuropean Bold"/>
                <a:cs typeface="Century Gothic Paneuropean Bold"/>
                <a:sym typeface="Century Gothic Paneuropean Bold"/>
              </a:rPr>
              <a:t>Estimasi Bias Jackknife :</a:t>
            </a:r>
          </a:p>
        </p:txBody>
      </p:sp>
      <p:sp>
        <p:nvSpPr>
          <p:cNvPr name="TextBox 27" id="27"/>
          <p:cNvSpPr txBox="true"/>
          <p:nvPr/>
        </p:nvSpPr>
        <p:spPr>
          <a:xfrm rot="0">
            <a:off x="5329345" y="7488088"/>
            <a:ext cx="7629310" cy="389255"/>
          </a:xfrm>
          <a:prstGeom prst="rect">
            <a:avLst/>
          </a:prstGeom>
        </p:spPr>
        <p:txBody>
          <a:bodyPr anchor="t" rtlCol="false" tIns="0" lIns="0" bIns="0" rIns="0">
            <a:spAutoFit/>
          </a:bodyPr>
          <a:lstStyle/>
          <a:p>
            <a:pPr algn="just">
              <a:lnSpc>
                <a:spcPts val="3220"/>
              </a:lnSpc>
            </a:pPr>
            <a:r>
              <a:rPr lang="en-US" sz="2300" i="true">
                <a:solidFill>
                  <a:srgbClr val="FFFFFF"/>
                </a:solidFill>
                <a:latin typeface="Century Gothic Paneuropean Italics"/>
                <a:ea typeface="Century Gothic Paneuropean Italics"/>
                <a:cs typeface="Century Gothic Paneuropean Italics"/>
                <a:sym typeface="Century Gothic Paneuropean Italics"/>
              </a:rPr>
              <a:t>Jika bias mendekati 0, maka statistik dianggap stabil.</a:t>
            </a:r>
          </a:p>
        </p:txBody>
      </p:sp>
      <p:grpSp>
        <p:nvGrpSpPr>
          <p:cNvPr name="Group 28" id="28"/>
          <p:cNvGrpSpPr/>
          <p:nvPr/>
        </p:nvGrpSpPr>
        <p:grpSpPr>
          <a:xfrm rot="0">
            <a:off x="6854973" y="507860"/>
            <a:ext cx="4578054" cy="1041680"/>
            <a:chOff x="0" y="0"/>
            <a:chExt cx="6104073" cy="1388906"/>
          </a:xfrm>
        </p:grpSpPr>
        <p:grpSp>
          <p:nvGrpSpPr>
            <p:cNvPr name="Group 29" id="29"/>
            <p:cNvGrpSpPr/>
            <p:nvPr/>
          </p:nvGrpSpPr>
          <p:grpSpPr>
            <a:xfrm rot="0">
              <a:off x="0" y="0"/>
              <a:ext cx="6104073" cy="1388906"/>
              <a:chOff x="0" y="0"/>
              <a:chExt cx="1205743" cy="274352"/>
            </a:xfrm>
          </p:grpSpPr>
          <p:sp>
            <p:nvSpPr>
              <p:cNvPr name="Freeform 30" id="30"/>
              <p:cNvSpPr/>
              <p:nvPr/>
            </p:nvSpPr>
            <p:spPr>
              <a:xfrm flipH="false" flipV="false" rot="0">
                <a:off x="0" y="0"/>
                <a:ext cx="1205743" cy="274352"/>
              </a:xfrm>
              <a:custGeom>
                <a:avLst/>
                <a:gdLst/>
                <a:ahLst/>
                <a:cxnLst/>
                <a:rect r="r" b="b" t="t" l="l"/>
                <a:pathLst>
                  <a:path h="274352" w="1205743">
                    <a:moveTo>
                      <a:pt x="86246" y="0"/>
                    </a:moveTo>
                    <a:lnTo>
                      <a:pt x="1119497" y="0"/>
                    </a:lnTo>
                    <a:cubicBezTo>
                      <a:pt x="1142371" y="0"/>
                      <a:pt x="1164308" y="9087"/>
                      <a:pt x="1180482" y="25261"/>
                    </a:cubicBezTo>
                    <a:cubicBezTo>
                      <a:pt x="1196656" y="41435"/>
                      <a:pt x="1205743" y="63372"/>
                      <a:pt x="1205743" y="86246"/>
                    </a:cubicBezTo>
                    <a:lnTo>
                      <a:pt x="1205743" y="188106"/>
                    </a:lnTo>
                    <a:cubicBezTo>
                      <a:pt x="1205743" y="210980"/>
                      <a:pt x="1196656" y="232917"/>
                      <a:pt x="1180482" y="249091"/>
                    </a:cubicBezTo>
                    <a:cubicBezTo>
                      <a:pt x="1164308" y="265265"/>
                      <a:pt x="1142371" y="274352"/>
                      <a:pt x="1119497" y="274352"/>
                    </a:cubicBezTo>
                    <a:lnTo>
                      <a:pt x="86246" y="274352"/>
                    </a:lnTo>
                    <a:cubicBezTo>
                      <a:pt x="63372" y="274352"/>
                      <a:pt x="41435" y="265265"/>
                      <a:pt x="25261" y="249091"/>
                    </a:cubicBezTo>
                    <a:cubicBezTo>
                      <a:pt x="9087" y="232917"/>
                      <a:pt x="0" y="210980"/>
                      <a:pt x="0" y="188106"/>
                    </a:cubicBezTo>
                    <a:lnTo>
                      <a:pt x="0" y="86246"/>
                    </a:lnTo>
                    <a:cubicBezTo>
                      <a:pt x="0" y="63372"/>
                      <a:pt x="9087" y="41435"/>
                      <a:pt x="25261" y="25261"/>
                    </a:cubicBezTo>
                    <a:cubicBezTo>
                      <a:pt x="41435" y="9087"/>
                      <a:pt x="63372" y="0"/>
                      <a:pt x="86246" y="0"/>
                    </a:cubicBezTo>
                    <a:close/>
                  </a:path>
                </a:pathLst>
              </a:custGeom>
              <a:solidFill>
                <a:srgbClr val="FFFFFF"/>
              </a:solidFill>
            </p:spPr>
          </p:sp>
          <p:sp>
            <p:nvSpPr>
              <p:cNvPr name="TextBox 31" id="31"/>
              <p:cNvSpPr txBox="true"/>
              <p:nvPr/>
            </p:nvSpPr>
            <p:spPr>
              <a:xfrm>
                <a:off x="0" y="-38100"/>
                <a:ext cx="1205743" cy="312452"/>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2372740" y="56308"/>
              <a:ext cx="1124209" cy="1124209"/>
            </a:xfrm>
            <a:custGeom>
              <a:avLst/>
              <a:gdLst/>
              <a:ahLst/>
              <a:cxnLst/>
              <a:rect r="r" b="b" t="t" l="l"/>
              <a:pathLst>
                <a:path h="1124209" w="1124209">
                  <a:moveTo>
                    <a:pt x="0" y="0"/>
                  </a:moveTo>
                  <a:lnTo>
                    <a:pt x="1124209" y="0"/>
                  </a:lnTo>
                  <a:lnTo>
                    <a:pt x="1124209" y="1124209"/>
                  </a:lnTo>
                  <a:lnTo>
                    <a:pt x="0" y="1124209"/>
                  </a:lnTo>
                  <a:lnTo>
                    <a:pt x="0" y="0"/>
                  </a:lnTo>
                  <a:close/>
                </a:path>
              </a:pathLst>
            </a:custGeom>
            <a:blipFill>
              <a:blip r:embed="rId9"/>
              <a:stretch>
                <a:fillRect l="0" t="0" r="0" b="0"/>
              </a:stretch>
            </a:blipFill>
          </p:spPr>
        </p:sp>
        <p:sp>
          <p:nvSpPr>
            <p:cNvPr name="Freeform 33" id="33"/>
            <p:cNvSpPr/>
            <p:nvPr/>
          </p:nvSpPr>
          <p:spPr>
            <a:xfrm flipH="false" flipV="false" rot="0">
              <a:off x="4644101" y="98484"/>
              <a:ext cx="938280" cy="1038569"/>
            </a:xfrm>
            <a:custGeom>
              <a:avLst/>
              <a:gdLst/>
              <a:ahLst/>
              <a:cxnLst/>
              <a:rect r="r" b="b" t="t" l="l"/>
              <a:pathLst>
                <a:path h="1038569" w="938280">
                  <a:moveTo>
                    <a:pt x="0" y="0"/>
                  </a:moveTo>
                  <a:lnTo>
                    <a:pt x="938280" y="0"/>
                  </a:lnTo>
                  <a:lnTo>
                    <a:pt x="938280" y="1038568"/>
                  </a:lnTo>
                  <a:lnTo>
                    <a:pt x="0" y="1038568"/>
                  </a:lnTo>
                  <a:lnTo>
                    <a:pt x="0" y="0"/>
                  </a:lnTo>
                  <a:close/>
                </a:path>
              </a:pathLst>
            </a:custGeom>
            <a:blipFill>
              <a:blip r:embed="rId10"/>
              <a:stretch>
                <a:fillRect l="0" t="0" r="0" b="0"/>
              </a:stretch>
            </a:blipFill>
          </p:spPr>
        </p:sp>
        <p:sp>
          <p:nvSpPr>
            <p:cNvPr name="Freeform 34" id="34"/>
            <p:cNvSpPr/>
            <p:nvPr/>
          </p:nvSpPr>
          <p:spPr>
            <a:xfrm flipH="false" flipV="false" rot="0">
              <a:off x="3496949" y="98484"/>
              <a:ext cx="1044322" cy="1039859"/>
            </a:xfrm>
            <a:custGeom>
              <a:avLst/>
              <a:gdLst/>
              <a:ahLst/>
              <a:cxnLst/>
              <a:rect r="r" b="b" t="t" l="l"/>
              <a:pathLst>
                <a:path h="1039859" w="1044322">
                  <a:moveTo>
                    <a:pt x="0" y="0"/>
                  </a:moveTo>
                  <a:lnTo>
                    <a:pt x="1044322" y="0"/>
                  </a:lnTo>
                  <a:lnTo>
                    <a:pt x="1044322" y="1039858"/>
                  </a:lnTo>
                  <a:lnTo>
                    <a:pt x="0" y="1039858"/>
                  </a:lnTo>
                  <a:lnTo>
                    <a:pt x="0" y="0"/>
                  </a:lnTo>
                  <a:close/>
                </a:path>
              </a:pathLst>
            </a:custGeom>
            <a:blipFill>
              <a:blip r:embed="rId11"/>
              <a:stretch>
                <a:fillRect l="0" t="0" r="0" b="0"/>
              </a:stretch>
            </a:blipFill>
          </p:spPr>
        </p:sp>
        <p:sp>
          <p:nvSpPr>
            <p:cNvPr name="Freeform 35" id="35"/>
            <p:cNvSpPr/>
            <p:nvPr/>
          </p:nvSpPr>
          <p:spPr>
            <a:xfrm flipH="false" flipV="false" rot="0">
              <a:off x="1496830" y="98484"/>
              <a:ext cx="1039859" cy="1039859"/>
            </a:xfrm>
            <a:custGeom>
              <a:avLst/>
              <a:gdLst/>
              <a:ahLst/>
              <a:cxnLst/>
              <a:rect r="r" b="b" t="t" l="l"/>
              <a:pathLst>
                <a:path h="1039859" w="1039859">
                  <a:moveTo>
                    <a:pt x="0" y="0"/>
                  </a:moveTo>
                  <a:lnTo>
                    <a:pt x="1039858" y="0"/>
                  </a:lnTo>
                  <a:lnTo>
                    <a:pt x="1039858" y="1039858"/>
                  </a:lnTo>
                  <a:lnTo>
                    <a:pt x="0" y="1039858"/>
                  </a:lnTo>
                  <a:lnTo>
                    <a:pt x="0" y="0"/>
                  </a:lnTo>
                  <a:close/>
                </a:path>
              </a:pathLst>
            </a:custGeom>
            <a:blipFill>
              <a:blip r:embed="rId12"/>
              <a:stretch>
                <a:fillRect l="0" t="0" r="0" b="0"/>
              </a:stretch>
            </a:blipFill>
          </p:spPr>
        </p:sp>
        <p:sp>
          <p:nvSpPr>
            <p:cNvPr name="Freeform 36" id="36"/>
            <p:cNvSpPr/>
            <p:nvPr/>
          </p:nvSpPr>
          <p:spPr>
            <a:xfrm flipH="false" flipV="false" rot="0">
              <a:off x="362098" y="122166"/>
              <a:ext cx="1033131" cy="1033131"/>
            </a:xfrm>
            <a:custGeom>
              <a:avLst/>
              <a:gdLst/>
              <a:ahLst/>
              <a:cxnLst/>
              <a:rect r="r" b="b" t="t" l="l"/>
              <a:pathLst>
                <a:path h="1033131" w="1033131">
                  <a:moveTo>
                    <a:pt x="0" y="0"/>
                  </a:moveTo>
                  <a:lnTo>
                    <a:pt x="1033132" y="0"/>
                  </a:lnTo>
                  <a:lnTo>
                    <a:pt x="1033132" y="1033132"/>
                  </a:lnTo>
                  <a:lnTo>
                    <a:pt x="0" y="1033132"/>
                  </a:lnTo>
                  <a:lnTo>
                    <a:pt x="0" y="0"/>
                  </a:lnTo>
                  <a:close/>
                </a:path>
              </a:pathLst>
            </a:custGeom>
            <a:blipFill>
              <a:blip r:embed="rId13"/>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9EA"/>
        </a:solidFill>
      </p:bgPr>
    </p:bg>
    <p:spTree>
      <p:nvGrpSpPr>
        <p:cNvPr id="1" name=""/>
        <p:cNvGrpSpPr/>
        <p:nvPr/>
      </p:nvGrpSpPr>
      <p:grpSpPr>
        <a:xfrm>
          <a:off x="0" y="0"/>
          <a:ext cx="0" cy="0"/>
          <a:chOff x="0" y="0"/>
          <a:chExt cx="0" cy="0"/>
        </a:xfrm>
      </p:grpSpPr>
      <p:grpSp>
        <p:nvGrpSpPr>
          <p:cNvPr name="Group 2" id="2"/>
          <p:cNvGrpSpPr/>
          <p:nvPr/>
        </p:nvGrpSpPr>
        <p:grpSpPr>
          <a:xfrm rot="0">
            <a:off x="-316746" y="9258300"/>
            <a:ext cx="18921492" cy="1543050"/>
            <a:chOff x="0" y="0"/>
            <a:chExt cx="4983438" cy="406400"/>
          </a:xfrm>
        </p:grpSpPr>
        <p:sp>
          <p:nvSpPr>
            <p:cNvPr name="Freeform 3" id="3"/>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FEBF25"/>
            </a:solidFill>
          </p:spPr>
        </p:sp>
        <p:sp>
          <p:nvSpPr>
            <p:cNvPr name="TextBox 4" id="4"/>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15800" y="6172200"/>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0" y="6172200"/>
            <a:ext cx="6172200" cy="4114800"/>
          </a:xfrm>
          <a:custGeom>
            <a:avLst/>
            <a:gdLst/>
            <a:ahLst/>
            <a:cxnLst/>
            <a:rect r="r" b="b" t="t" l="l"/>
            <a:pathLst>
              <a:path h="4114800" w="6172200">
                <a:moveTo>
                  <a:pt x="6172200" y="0"/>
                </a:moveTo>
                <a:lnTo>
                  <a:pt x="0" y="0"/>
                </a:lnTo>
                <a:lnTo>
                  <a:pt x="0" y="4114800"/>
                </a:lnTo>
                <a:lnTo>
                  <a:pt x="6172200" y="4114800"/>
                </a:lnTo>
                <a:lnTo>
                  <a:pt x="6172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0" y="0"/>
            <a:ext cx="2279859" cy="2279859"/>
          </a:xfrm>
          <a:custGeom>
            <a:avLst/>
            <a:gdLst/>
            <a:ahLst/>
            <a:cxnLst/>
            <a:rect r="r" b="b" t="t" l="l"/>
            <a:pathLst>
              <a:path h="2279859" w="2279859">
                <a:moveTo>
                  <a:pt x="2279859" y="0"/>
                </a:moveTo>
                <a:lnTo>
                  <a:pt x="0" y="0"/>
                </a:lnTo>
                <a:lnTo>
                  <a:pt x="0" y="2279859"/>
                </a:lnTo>
                <a:lnTo>
                  <a:pt x="2279859" y="2279859"/>
                </a:lnTo>
                <a:lnTo>
                  <a:pt x="2279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583472" y="1567247"/>
            <a:ext cx="696388" cy="6963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008141" y="0"/>
            <a:ext cx="2279859" cy="2279859"/>
          </a:xfrm>
          <a:custGeom>
            <a:avLst/>
            <a:gdLst/>
            <a:ahLst/>
            <a:cxnLst/>
            <a:rect r="r" b="b" t="t" l="l"/>
            <a:pathLst>
              <a:path h="2279859" w="2279859">
                <a:moveTo>
                  <a:pt x="0" y="0"/>
                </a:moveTo>
                <a:lnTo>
                  <a:pt x="2279859" y="0"/>
                </a:lnTo>
                <a:lnTo>
                  <a:pt x="2279859" y="2279859"/>
                </a:lnTo>
                <a:lnTo>
                  <a:pt x="0" y="2279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6008141" y="1583472"/>
            <a:ext cx="696388" cy="6963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486837" y="47625"/>
            <a:ext cx="696388" cy="69638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3350" y="28575"/>
            <a:ext cx="696388" cy="6963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220621"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6533599"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0640861" y="3675212"/>
            <a:ext cx="9993618" cy="495300"/>
          </a:xfrm>
          <a:prstGeom prst="rect">
            <a:avLst/>
          </a:prstGeom>
        </p:spPr>
        <p:txBody>
          <a:bodyPr anchor="t" rtlCol="false" tIns="0" lIns="0" bIns="0" rIns="0">
            <a:spAutoFit/>
          </a:bodyPr>
          <a:lstStyle/>
          <a:p>
            <a:pPr algn="just">
              <a:lnSpc>
                <a:spcPts val="4199"/>
              </a:lnSpc>
              <a:spcBef>
                <a:spcPct val="0"/>
              </a:spcBef>
            </a:pPr>
            <a:r>
              <a:rPr lang="en-US" b="true" sz="2999">
                <a:solidFill>
                  <a:srgbClr val="233173"/>
                </a:solidFill>
                <a:latin typeface="Century Gothic Paneuropean Bold"/>
                <a:ea typeface="Century Gothic Paneuropean Bold"/>
                <a:cs typeface="Century Gothic Paneuropean Bold"/>
                <a:sym typeface="Century Gothic Paneuropean Bold"/>
              </a:rPr>
              <a:t>Profil UKT Mahasiswa</a:t>
            </a:r>
          </a:p>
        </p:txBody>
      </p:sp>
      <p:sp>
        <p:nvSpPr>
          <p:cNvPr name="TextBox 24" id="24"/>
          <p:cNvSpPr txBox="true"/>
          <p:nvPr/>
        </p:nvSpPr>
        <p:spPr>
          <a:xfrm rot="0">
            <a:off x="2519812" y="2330310"/>
            <a:ext cx="13248377" cy="1076328"/>
          </a:xfrm>
          <a:prstGeom prst="rect">
            <a:avLst/>
          </a:prstGeom>
        </p:spPr>
        <p:txBody>
          <a:bodyPr anchor="t" rtlCol="false" tIns="0" lIns="0" bIns="0" rIns="0">
            <a:spAutoFit/>
          </a:bodyPr>
          <a:lstStyle/>
          <a:p>
            <a:pPr algn="ctr">
              <a:lnSpc>
                <a:spcPts val="8100"/>
              </a:lnSpc>
            </a:pPr>
            <a:r>
              <a:rPr lang="en-US" b="true" sz="7500">
                <a:solidFill>
                  <a:srgbClr val="233173"/>
                </a:solidFill>
                <a:latin typeface="Croogla Bold"/>
                <a:ea typeface="Croogla Bold"/>
                <a:cs typeface="Croogla Bold"/>
                <a:sym typeface="Croogla Bold"/>
              </a:rPr>
              <a:t>HASIL ANALISIS DESKRIPTIF</a:t>
            </a:r>
          </a:p>
        </p:txBody>
      </p:sp>
      <p:pic>
        <p:nvPicPr>
          <p:cNvPr name="Picture 25" id="25"/>
          <p:cNvPicPr>
            <a:picLocks noChangeAspect="true"/>
          </p:cNvPicPr>
          <p:nvPr/>
        </p:nvPicPr>
        <p:blipFill>
          <a:blip r:embed="rId8"/>
          <a:stretch>
            <a:fillRect/>
          </a:stretch>
        </p:blipFill>
        <p:spPr>
          <a:xfrm rot="0">
            <a:off x="1671715" y="2611921"/>
            <a:ext cx="9422963" cy="6764009"/>
          </a:xfrm>
          <a:prstGeom prst="rect">
            <a:avLst/>
          </a:prstGeom>
        </p:spPr>
      </p:pic>
      <p:sp>
        <p:nvSpPr>
          <p:cNvPr name="TextBox 26" id="26"/>
          <p:cNvSpPr txBox="true"/>
          <p:nvPr/>
        </p:nvSpPr>
        <p:spPr>
          <a:xfrm rot="0">
            <a:off x="10510342" y="4442832"/>
            <a:ext cx="5127328" cy="3115945"/>
          </a:xfrm>
          <a:prstGeom prst="rect">
            <a:avLst/>
          </a:prstGeom>
        </p:spPr>
        <p:txBody>
          <a:bodyPr anchor="t" rtlCol="false" tIns="0" lIns="0" bIns="0" rIns="0">
            <a:spAutoFit/>
          </a:bodyPr>
          <a:lstStyle/>
          <a:p>
            <a:pPr algn="just" marL="474983" indent="-237491" lvl="1">
              <a:lnSpc>
                <a:spcPts val="3080"/>
              </a:lnSpc>
              <a:buFont typeface="Arial"/>
              <a:buChar char="•"/>
            </a:pPr>
            <a:r>
              <a:rPr lang="en-US" b="true" sz="2200">
                <a:solidFill>
                  <a:srgbClr val="233173"/>
                </a:solidFill>
                <a:latin typeface="Century Gothic Paneuropean Bold"/>
                <a:ea typeface="Century Gothic Paneuropean Bold"/>
                <a:cs typeface="Century Gothic Paneuropean Bold"/>
                <a:sym typeface="Century Gothic Paneuropean Bold"/>
              </a:rPr>
              <a:t>Rata-rata UKT mahasiswa asrama berada pada nilai Rp 2.457.692. </a:t>
            </a:r>
          </a:p>
          <a:p>
            <a:pPr algn="just" marL="474983" indent="-237491" lvl="1">
              <a:lnSpc>
                <a:spcPts val="3080"/>
              </a:lnSpc>
              <a:spcBef>
                <a:spcPct val="0"/>
              </a:spcBef>
              <a:buFont typeface="Arial"/>
              <a:buChar char="•"/>
            </a:pPr>
            <a:r>
              <a:rPr lang="en-US" b="true" sz="2200">
                <a:solidFill>
                  <a:srgbClr val="233173"/>
                </a:solidFill>
                <a:latin typeface="Century Gothic Paneuropean Bold"/>
                <a:ea typeface="Century Gothic Paneuropean Bold"/>
                <a:cs typeface="Century Gothic Paneuropean Bold"/>
                <a:sym typeface="Century Gothic Paneuropean Bold"/>
              </a:rPr>
              <a:t>Visualisasi histogram menunjukkan bahwa distribusi UKT cenderung berkumpul pada rentang rendah-menengah (sejalan dengan mayoritas Golongan UKT).</a:t>
            </a:r>
          </a:p>
        </p:txBody>
      </p:sp>
      <p:grpSp>
        <p:nvGrpSpPr>
          <p:cNvPr name="Group 27" id="27"/>
          <p:cNvGrpSpPr/>
          <p:nvPr/>
        </p:nvGrpSpPr>
        <p:grpSpPr>
          <a:xfrm rot="0">
            <a:off x="6854973" y="507860"/>
            <a:ext cx="4578054" cy="1041680"/>
            <a:chOff x="0" y="0"/>
            <a:chExt cx="6104073" cy="1388906"/>
          </a:xfrm>
        </p:grpSpPr>
        <p:grpSp>
          <p:nvGrpSpPr>
            <p:cNvPr name="Group 28" id="28"/>
            <p:cNvGrpSpPr/>
            <p:nvPr/>
          </p:nvGrpSpPr>
          <p:grpSpPr>
            <a:xfrm rot="0">
              <a:off x="0" y="0"/>
              <a:ext cx="6104073" cy="1388906"/>
              <a:chOff x="0" y="0"/>
              <a:chExt cx="1205743" cy="274352"/>
            </a:xfrm>
          </p:grpSpPr>
          <p:sp>
            <p:nvSpPr>
              <p:cNvPr name="Freeform 29" id="29"/>
              <p:cNvSpPr/>
              <p:nvPr/>
            </p:nvSpPr>
            <p:spPr>
              <a:xfrm flipH="false" flipV="false" rot="0">
                <a:off x="0" y="0"/>
                <a:ext cx="1205743" cy="274352"/>
              </a:xfrm>
              <a:custGeom>
                <a:avLst/>
                <a:gdLst/>
                <a:ahLst/>
                <a:cxnLst/>
                <a:rect r="r" b="b" t="t" l="l"/>
                <a:pathLst>
                  <a:path h="274352" w="1205743">
                    <a:moveTo>
                      <a:pt x="86246" y="0"/>
                    </a:moveTo>
                    <a:lnTo>
                      <a:pt x="1119497" y="0"/>
                    </a:lnTo>
                    <a:cubicBezTo>
                      <a:pt x="1142371" y="0"/>
                      <a:pt x="1164308" y="9087"/>
                      <a:pt x="1180482" y="25261"/>
                    </a:cubicBezTo>
                    <a:cubicBezTo>
                      <a:pt x="1196656" y="41435"/>
                      <a:pt x="1205743" y="63372"/>
                      <a:pt x="1205743" y="86246"/>
                    </a:cubicBezTo>
                    <a:lnTo>
                      <a:pt x="1205743" y="188106"/>
                    </a:lnTo>
                    <a:cubicBezTo>
                      <a:pt x="1205743" y="210980"/>
                      <a:pt x="1196656" y="232917"/>
                      <a:pt x="1180482" y="249091"/>
                    </a:cubicBezTo>
                    <a:cubicBezTo>
                      <a:pt x="1164308" y="265265"/>
                      <a:pt x="1142371" y="274352"/>
                      <a:pt x="1119497" y="274352"/>
                    </a:cubicBezTo>
                    <a:lnTo>
                      <a:pt x="86246" y="274352"/>
                    </a:lnTo>
                    <a:cubicBezTo>
                      <a:pt x="63372" y="274352"/>
                      <a:pt x="41435" y="265265"/>
                      <a:pt x="25261" y="249091"/>
                    </a:cubicBezTo>
                    <a:cubicBezTo>
                      <a:pt x="9087" y="232917"/>
                      <a:pt x="0" y="210980"/>
                      <a:pt x="0" y="188106"/>
                    </a:cubicBezTo>
                    <a:lnTo>
                      <a:pt x="0" y="86246"/>
                    </a:lnTo>
                    <a:cubicBezTo>
                      <a:pt x="0" y="63372"/>
                      <a:pt x="9087" y="41435"/>
                      <a:pt x="25261" y="25261"/>
                    </a:cubicBezTo>
                    <a:cubicBezTo>
                      <a:pt x="41435" y="9087"/>
                      <a:pt x="63372" y="0"/>
                      <a:pt x="86246" y="0"/>
                    </a:cubicBezTo>
                    <a:close/>
                  </a:path>
                </a:pathLst>
              </a:custGeom>
              <a:solidFill>
                <a:srgbClr val="FFFFFF"/>
              </a:solidFill>
            </p:spPr>
          </p:sp>
          <p:sp>
            <p:nvSpPr>
              <p:cNvPr name="TextBox 30" id="30"/>
              <p:cNvSpPr txBox="true"/>
              <p:nvPr/>
            </p:nvSpPr>
            <p:spPr>
              <a:xfrm>
                <a:off x="0" y="-38100"/>
                <a:ext cx="1205743" cy="312452"/>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2372740" y="56308"/>
              <a:ext cx="1124209" cy="1124209"/>
            </a:xfrm>
            <a:custGeom>
              <a:avLst/>
              <a:gdLst/>
              <a:ahLst/>
              <a:cxnLst/>
              <a:rect r="r" b="b" t="t" l="l"/>
              <a:pathLst>
                <a:path h="1124209" w="1124209">
                  <a:moveTo>
                    <a:pt x="0" y="0"/>
                  </a:moveTo>
                  <a:lnTo>
                    <a:pt x="1124209" y="0"/>
                  </a:lnTo>
                  <a:lnTo>
                    <a:pt x="1124209" y="1124209"/>
                  </a:lnTo>
                  <a:lnTo>
                    <a:pt x="0" y="1124209"/>
                  </a:lnTo>
                  <a:lnTo>
                    <a:pt x="0" y="0"/>
                  </a:lnTo>
                  <a:close/>
                </a:path>
              </a:pathLst>
            </a:custGeom>
            <a:blipFill>
              <a:blip r:embed="rId9"/>
              <a:stretch>
                <a:fillRect l="0" t="0" r="0" b="0"/>
              </a:stretch>
            </a:blipFill>
          </p:spPr>
        </p:sp>
        <p:sp>
          <p:nvSpPr>
            <p:cNvPr name="Freeform 32" id="32"/>
            <p:cNvSpPr/>
            <p:nvPr/>
          </p:nvSpPr>
          <p:spPr>
            <a:xfrm flipH="false" flipV="false" rot="0">
              <a:off x="4644101" y="98484"/>
              <a:ext cx="938280" cy="1038569"/>
            </a:xfrm>
            <a:custGeom>
              <a:avLst/>
              <a:gdLst/>
              <a:ahLst/>
              <a:cxnLst/>
              <a:rect r="r" b="b" t="t" l="l"/>
              <a:pathLst>
                <a:path h="1038569" w="938280">
                  <a:moveTo>
                    <a:pt x="0" y="0"/>
                  </a:moveTo>
                  <a:lnTo>
                    <a:pt x="938280" y="0"/>
                  </a:lnTo>
                  <a:lnTo>
                    <a:pt x="938280" y="1038568"/>
                  </a:lnTo>
                  <a:lnTo>
                    <a:pt x="0" y="1038568"/>
                  </a:lnTo>
                  <a:lnTo>
                    <a:pt x="0" y="0"/>
                  </a:lnTo>
                  <a:close/>
                </a:path>
              </a:pathLst>
            </a:custGeom>
            <a:blipFill>
              <a:blip r:embed="rId10"/>
              <a:stretch>
                <a:fillRect l="0" t="0" r="0" b="0"/>
              </a:stretch>
            </a:blipFill>
          </p:spPr>
        </p:sp>
        <p:sp>
          <p:nvSpPr>
            <p:cNvPr name="Freeform 33" id="33"/>
            <p:cNvSpPr/>
            <p:nvPr/>
          </p:nvSpPr>
          <p:spPr>
            <a:xfrm flipH="false" flipV="false" rot="0">
              <a:off x="3496949" y="98484"/>
              <a:ext cx="1044322" cy="1039859"/>
            </a:xfrm>
            <a:custGeom>
              <a:avLst/>
              <a:gdLst/>
              <a:ahLst/>
              <a:cxnLst/>
              <a:rect r="r" b="b" t="t" l="l"/>
              <a:pathLst>
                <a:path h="1039859" w="1044322">
                  <a:moveTo>
                    <a:pt x="0" y="0"/>
                  </a:moveTo>
                  <a:lnTo>
                    <a:pt x="1044322" y="0"/>
                  </a:lnTo>
                  <a:lnTo>
                    <a:pt x="1044322" y="1039858"/>
                  </a:lnTo>
                  <a:lnTo>
                    <a:pt x="0" y="1039858"/>
                  </a:lnTo>
                  <a:lnTo>
                    <a:pt x="0" y="0"/>
                  </a:lnTo>
                  <a:close/>
                </a:path>
              </a:pathLst>
            </a:custGeom>
            <a:blipFill>
              <a:blip r:embed="rId11"/>
              <a:stretch>
                <a:fillRect l="0" t="0" r="0" b="0"/>
              </a:stretch>
            </a:blipFill>
          </p:spPr>
        </p:sp>
        <p:sp>
          <p:nvSpPr>
            <p:cNvPr name="Freeform 34" id="34"/>
            <p:cNvSpPr/>
            <p:nvPr/>
          </p:nvSpPr>
          <p:spPr>
            <a:xfrm flipH="false" flipV="false" rot="0">
              <a:off x="1496830" y="98484"/>
              <a:ext cx="1039859" cy="1039859"/>
            </a:xfrm>
            <a:custGeom>
              <a:avLst/>
              <a:gdLst/>
              <a:ahLst/>
              <a:cxnLst/>
              <a:rect r="r" b="b" t="t" l="l"/>
              <a:pathLst>
                <a:path h="1039859" w="1039859">
                  <a:moveTo>
                    <a:pt x="0" y="0"/>
                  </a:moveTo>
                  <a:lnTo>
                    <a:pt x="1039858" y="0"/>
                  </a:lnTo>
                  <a:lnTo>
                    <a:pt x="1039858" y="1039858"/>
                  </a:lnTo>
                  <a:lnTo>
                    <a:pt x="0" y="1039858"/>
                  </a:lnTo>
                  <a:lnTo>
                    <a:pt x="0" y="0"/>
                  </a:lnTo>
                  <a:close/>
                </a:path>
              </a:pathLst>
            </a:custGeom>
            <a:blipFill>
              <a:blip r:embed="rId12"/>
              <a:stretch>
                <a:fillRect l="0" t="0" r="0" b="0"/>
              </a:stretch>
            </a:blipFill>
          </p:spPr>
        </p:sp>
        <p:sp>
          <p:nvSpPr>
            <p:cNvPr name="Freeform 35" id="35"/>
            <p:cNvSpPr/>
            <p:nvPr/>
          </p:nvSpPr>
          <p:spPr>
            <a:xfrm flipH="false" flipV="false" rot="0">
              <a:off x="362098" y="122166"/>
              <a:ext cx="1033131" cy="1033131"/>
            </a:xfrm>
            <a:custGeom>
              <a:avLst/>
              <a:gdLst/>
              <a:ahLst/>
              <a:cxnLst/>
              <a:rect r="r" b="b" t="t" l="l"/>
              <a:pathLst>
                <a:path h="1033131" w="1033131">
                  <a:moveTo>
                    <a:pt x="0" y="0"/>
                  </a:moveTo>
                  <a:lnTo>
                    <a:pt x="1033132" y="0"/>
                  </a:lnTo>
                  <a:lnTo>
                    <a:pt x="1033132" y="1033132"/>
                  </a:lnTo>
                  <a:lnTo>
                    <a:pt x="0" y="1033132"/>
                  </a:lnTo>
                  <a:lnTo>
                    <a:pt x="0" y="0"/>
                  </a:lnTo>
                  <a:close/>
                </a:path>
              </a:pathLst>
            </a:custGeom>
            <a:blipFill>
              <a:blip r:embed="rId13"/>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9EA"/>
        </a:solidFill>
      </p:bgPr>
    </p:bg>
    <p:spTree>
      <p:nvGrpSpPr>
        <p:cNvPr id="1" name=""/>
        <p:cNvGrpSpPr/>
        <p:nvPr/>
      </p:nvGrpSpPr>
      <p:grpSpPr>
        <a:xfrm>
          <a:off x="0" y="0"/>
          <a:ext cx="0" cy="0"/>
          <a:chOff x="0" y="0"/>
          <a:chExt cx="0" cy="0"/>
        </a:xfrm>
      </p:grpSpPr>
      <p:grpSp>
        <p:nvGrpSpPr>
          <p:cNvPr name="Group 2" id="2"/>
          <p:cNvGrpSpPr/>
          <p:nvPr/>
        </p:nvGrpSpPr>
        <p:grpSpPr>
          <a:xfrm rot="0">
            <a:off x="-316746" y="9258300"/>
            <a:ext cx="18921492" cy="1543050"/>
            <a:chOff x="0" y="0"/>
            <a:chExt cx="4983438" cy="406400"/>
          </a:xfrm>
        </p:grpSpPr>
        <p:sp>
          <p:nvSpPr>
            <p:cNvPr name="Freeform 3" id="3"/>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FEBF25"/>
            </a:solidFill>
          </p:spPr>
        </p:sp>
        <p:sp>
          <p:nvSpPr>
            <p:cNvPr name="TextBox 4" id="4"/>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15800" y="6172200"/>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0" y="6172200"/>
            <a:ext cx="6172200" cy="4114800"/>
          </a:xfrm>
          <a:custGeom>
            <a:avLst/>
            <a:gdLst/>
            <a:ahLst/>
            <a:cxnLst/>
            <a:rect r="r" b="b" t="t" l="l"/>
            <a:pathLst>
              <a:path h="4114800" w="6172200">
                <a:moveTo>
                  <a:pt x="6172200" y="0"/>
                </a:moveTo>
                <a:lnTo>
                  <a:pt x="0" y="0"/>
                </a:lnTo>
                <a:lnTo>
                  <a:pt x="0" y="4114800"/>
                </a:lnTo>
                <a:lnTo>
                  <a:pt x="6172200" y="4114800"/>
                </a:lnTo>
                <a:lnTo>
                  <a:pt x="6172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0" y="0"/>
            <a:ext cx="2279859" cy="2279859"/>
          </a:xfrm>
          <a:custGeom>
            <a:avLst/>
            <a:gdLst/>
            <a:ahLst/>
            <a:cxnLst/>
            <a:rect r="r" b="b" t="t" l="l"/>
            <a:pathLst>
              <a:path h="2279859" w="2279859">
                <a:moveTo>
                  <a:pt x="2279859" y="0"/>
                </a:moveTo>
                <a:lnTo>
                  <a:pt x="0" y="0"/>
                </a:lnTo>
                <a:lnTo>
                  <a:pt x="0" y="2279859"/>
                </a:lnTo>
                <a:lnTo>
                  <a:pt x="2279859" y="2279859"/>
                </a:lnTo>
                <a:lnTo>
                  <a:pt x="2279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583472" y="1567247"/>
            <a:ext cx="696388" cy="6963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008141" y="0"/>
            <a:ext cx="2279859" cy="2279859"/>
          </a:xfrm>
          <a:custGeom>
            <a:avLst/>
            <a:gdLst/>
            <a:ahLst/>
            <a:cxnLst/>
            <a:rect r="r" b="b" t="t" l="l"/>
            <a:pathLst>
              <a:path h="2279859" w="2279859">
                <a:moveTo>
                  <a:pt x="0" y="0"/>
                </a:moveTo>
                <a:lnTo>
                  <a:pt x="2279859" y="0"/>
                </a:lnTo>
                <a:lnTo>
                  <a:pt x="2279859" y="2279859"/>
                </a:lnTo>
                <a:lnTo>
                  <a:pt x="0" y="2279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6008141" y="1583472"/>
            <a:ext cx="696388" cy="6963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486837" y="47625"/>
            <a:ext cx="696388" cy="69638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3350" y="28575"/>
            <a:ext cx="696388" cy="6963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220621"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6533599"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867690" y="7262495"/>
            <a:ext cx="12564925" cy="789305"/>
          </a:xfrm>
          <a:prstGeom prst="rect">
            <a:avLst/>
          </a:prstGeom>
        </p:spPr>
        <p:txBody>
          <a:bodyPr anchor="t" rtlCol="false" tIns="0" lIns="0" bIns="0" rIns="0">
            <a:spAutoFit/>
          </a:bodyPr>
          <a:lstStyle/>
          <a:p>
            <a:pPr algn="just">
              <a:lnSpc>
                <a:spcPts val="3220"/>
              </a:lnSpc>
              <a:spcBef>
                <a:spcPct val="0"/>
              </a:spcBef>
            </a:pPr>
            <a:r>
              <a:rPr lang="en-US" b="true" sz="2300">
                <a:solidFill>
                  <a:srgbClr val="233173"/>
                </a:solidFill>
                <a:latin typeface="Century Gothic Paneuropean Bold"/>
                <a:ea typeface="Century Gothic Paneuropean Bold"/>
                <a:cs typeface="Century Gothic Paneuropean Bold"/>
                <a:sym typeface="Century Gothic Paneuropean Bold"/>
              </a:rPr>
              <a:t>Golongan UKT 3 mendominasi secara signifikan (46,2%), mengindikasikan bahwa mayoritas mahasiswa berada pada kategori ekonomi menengah. </a:t>
            </a:r>
          </a:p>
        </p:txBody>
      </p:sp>
      <p:sp>
        <p:nvSpPr>
          <p:cNvPr name="TextBox 24" id="24"/>
          <p:cNvSpPr txBox="true"/>
          <p:nvPr/>
        </p:nvSpPr>
        <p:spPr>
          <a:xfrm rot="0">
            <a:off x="2519812" y="1982116"/>
            <a:ext cx="13248377" cy="1076328"/>
          </a:xfrm>
          <a:prstGeom prst="rect">
            <a:avLst/>
          </a:prstGeom>
        </p:spPr>
        <p:txBody>
          <a:bodyPr anchor="t" rtlCol="false" tIns="0" lIns="0" bIns="0" rIns="0">
            <a:spAutoFit/>
          </a:bodyPr>
          <a:lstStyle/>
          <a:p>
            <a:pPr algn="ctr">
              <a:lnSpc>
                <a:spcPts val="8100"/>
              </a:lnSpc>
            </a:pPr>
            <a:r>
              <a:rPr lang="en-US" b="true" sz="7500">
                <a:solidFill>
                  <a:srgbClr val="233173"/>
                </a:solidFill>
                <a:latin typeface="Croogla Bold"/>
                <a:ea typeface="Croogla Bold"/>
                <a:cs typeface="Croogla Bold"/>
                <a:sym typeface="Croogla Bold"/>
              </a:rPr>
              <a:t>HASIL ANALISIS DESKRIPTIF</a:t>
            </a:r>
          </a:p>
        </p:txBody>
      </p:sp>
      <p:pic>
        <p:nvPicPr>
          <p:cNvPr name="Picture 25" id="25"/>
          <p:cNvPicPr>
            <a:picLocks noChangeAspect="true"/>
          </p:cNvPicPr>
          <p:nvPr/>
        </p:nvPicPr>
        <p:blipFill>
          <a:blip r:embed="rId8"/>
          <a:stretch>
            <a:fillRect/>
          </a:stretch>
        </p:blipFill>
        <p:spPr>
          <a:xfrm rot="0">
            <a:off x="1611198" y="2386329"/>
            <a:ext cx="15077910" cy="6075557"/>
          </a:xfrm>
          <a:prstGeom prst="rect">
            <a:avLst/>
          </a:prstGeom>
        </p:spPr>
      </p:pic>
      <p:sp>
        <p:nvSpPr>
          <p:cNvPr name="TextBox 26" id="26"/>
          <p:cNvSpPr txBox="true"/>
          <p:nvPr/>
        </p:nvSpPr>
        <p:spPr>
          <a:xfrm rot="0">
            <a:off x="2867690" y="3017384"/>
            <a:ext cx="12334210" cy="455295"/>
          </a:xfrm>
          <a:prstGeom prst="rect">
            <a:avLst/>
          </a:prstGeom>
        </p:spPr>
        <p:txBody>
          <a:bodyPr anchor="t" rtlCol="false" tIns="0" lIns="0" bIns="0" rIns="0">
            <a:spAutoFit/>
          </a:bodyPr>
          <a:lstStyle/>
          <a:p>
            <a:pPr algn="just">
              <a:lnSpc>
                <a:spcPts val="3779"/>
              </a:lnSpc>
              <a:spcBef>
                <a:spcPct val="0"/>
              </a:spcBef>
            </a:pPr>
            <a:r>
              <a:rPr lang="en-US" b="true" sz="2700">
                <a:solidFill>
                  <a:srgbClr val="233173"/>
                </a:solidFill>
                <a:latin typeface="Century Gothic Paneuropean Bold"/>
                <a:ea typeface="Century Gothic Paneuropean Bold"/>
                <a:cs typeface="Century Gothic Paneuropean Bold"/>
                <a:sym typeface="Century Gothic Paneuropean Bold"/>
              </a:rPr>
              <a:t>Distribusi Golongan UKT</a:t>
            </a:r>
          </a:p>
        </p:txBody>
      </p:sp>
      <p:grpSp>
        <p:nvGrpSpPr>
          <p:cNvPr name="Group 27" id="27"/>
          <p:cNvGrpSpPr/>
          <p:nvPr/>
        </p:nvGrpSpPr>
        <p:grpSpPr>
          <a:xfrm rot="0">
            <a:off x="6854973" y="395819"/>
            <a:ext cx="4578054" cy="1041680"/>
            <a:chOff x="0" y="0"/>
            <a:chExt cx="6104073" cy="1388906"/>
          </a:xfrm>
        </p:grpSpPr>
        <p:grpSp>
          <p:nvGrpSpPr>
            <p:cNvPr name="Group 28" id="28"/>
            <p:cNvGrpSpPr/>
            <p:nvPr/>
          </p:nvGrpSpPr>
          <p:grpSpPr>
            <a:xfrm rot="0">
              <a:off x="0" y="0"/>
              <a:ext cx="6104073" cy="1388906"/>
              <a:chOff x="0" y="0"/>
              <a:chExt cx="1205743" cy="274352"/>
            </a:xfrm>
          </p:grpSpPr>
          <p:sp>
            <p:nvSpPr>
              <p:cNvPr name="Freeform 29" id="29"/>
              <p:cNvSpPr/>
              <p:nvPr/>
            </p:nvSpPr>
            <p:spPr>
              <a:xfrm flipH="false" flipV="false" rot="0">
                <a:off x="0" y="0"/>
                <a:ext cx="1205743" cy="274352"/>
              </a:xfrm>
              <a:custGeom>
                <a:avLst/>
                <a:gdLst/>
                <a:ahLst/>
                <a:cxnLst/>
                <a:rect r="r" b="b" t="t" l="l"/>
                <a:pathLst>
                  <a:path h="274352" w="1205743">
                    <a:moveTo>
                      <a:pt x="86246" y="0"/>
                    </a:moveTo>
                    <a:lnTo>
                      <a:pt x="1119497" y="0"/>
                    </a:lnTo>
                    <a:cubicBezTo>
                      <a:pt x="1142371" y="0"/>
                      <a:pt x="1164308" y="9087"/>
                      <a:pt x="1180482" y="25261"/>
                    </a:cubicBezTo>
                    <a:cubicBezTo>
                      <a:pt x="1196656" y="41435"/>
                      <a:pt x="1205743" y="63372"/>
                      <a:pt x="1205743" y="86246"/>
                    </a:cubicBezTo>
                    <a:lnTo>
                      <a:pt x="1205743" y="188106"/>
                    </a:lnTo>
                    <a:cubicBezTo>
                      <a:pt x="1205743" y="210980"/>
                      <a:pt x="1196656" y="232917"/>
                      <a:pt x="1180482" y="249091"/>
                    </a:cubicBezTo>
                    <a:cubicBezTo>
                      <a:pt x="1164308" y="265265"/>
                      <a:pt x="1142371" y="274352"/>
                      <a:pt x="1119497" y="274352"/>
                    </a:cubicBezTo>
                    <a:lnTo>
                      <a:pt x="86246" y="274352"/>
                    </a:lnTo>
                    <a:cubicBezTo>
                      <a:pt x="63372" y="274352"/>
                      <a:pt x="41435" y="265265"/>
                      <a:pt x="25261" y="249091"/>
                    </a:cubicBezTo>
                    <a:cubicBezTo>
                      <a:pt x="9087" y="232917"/>
                      <a:pt x="0" y="210980"/>
                      <a:pt x="0" y="188106"/>
                    </a:cubicBezTo>
                    <a:lnTo>
                      <a:pt x="0" y="86246"/>
                    </a:lnTo>
                    <a:cubicBezTo>
                      <a:pt x="0" y="63372"/>
                      <a:pt x="9087" y="41435"/>
                      <a:pt x="25261" y="25261"/>
                    </a:cubicBezTo>
                    <a:cubicBezTo>
                      <a:pt x="41435" y="9087"/>
                      <a:pt x="63372" y="0"/>
                      <a:pt x="86246" y="0"/>
                    </a:cubicBezTo>
                    <a:close/>
                  </a:path>
                </a:pathLst>
              </a:custGeom>
              <a:solidFill>
                <a:srgbClr val="FFFFFF"/>
              </a:solidFill>
            </p:spPr>
          </p:sp>
          <p:sp>
            <p:nvSpPr>
              <p:cNvPr name="TextBox 30" id="30"/>
              <p:cNvSpPr txBox="true"/>
              <p:nvPr/>
            </p:nvSpPr>
            <p:spPr>
              <a:xfrm>
                <a:off x="0" y="-38100"/>
                <a:ext cx="1205743" cy="312452"/>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2372740" y="56308"/>
              <a:ext cx="1124209" cy="1124209"/>
            </a:xfrm>
            <a:custGeom>
              <a:avLst/>
              <a:gdLst/>
              <a:ahLst/>
              <a:cxnLst/>
              <a:rect r="r" b="b" t="t" l="l"/>
              <a:pathLst>
                <a:path h="1124209" w="1124209">
                  <a:moveTo>
                    <a:pt x="0" y="0"/>
                  </a:moveTo>
                  <a:lnTo>
                    <a:pt x="1124209" y="0"/>
                  </a:lnTo>
                  <a:lnTo>
                    <a:pt x="1124209" y="1124209"/>
                  </a:lnTo>
                  <a:lnTo>
                    <a:pt x="0" y="1124209"/>
                  </a:lnTo>
                  <a:lnTo>
                    <a:pt x="0" y="0"/>
                  </a:lnTo>
                  <a:close/>
                </a:path>
              </a:pathLst>
            </a:custGeom>
            <a:blipFill>
              <a:blip r:embed="rId9"/>
              <a:stretch>
                <a:fillRect l="0" t="0" r="0" b="0"/>
              </a:stretch>
            </a:blipFill>
          </p:spPr>
        </p:sp>
        <p:sp>
          <p:nvSpPr>
            <p:cNvPr name="Freeform 32" id="32"/>
            <p:cNvSpPr/>
            <p:nvPr/>
          </p:nvSpPr>
          <p:spPr>
            <a:xfrm flipH="false" flipV="false" rot="0">
              <a:off x="4644101" y="98484"/>
              <a:ext cx="938280" cy="1038569"/>
            </a:xfrm>
            <a:custGeom>
              <a:avLst/>
              <a:gdLst/>
              <a:ahLst/>
              <a:cxnLst/>
              <a:rect r="r" b="b" t="t" l="l"/>
              <a:pathLst>
                <a:path h="1038569" w="938280">
                  <a:moveTo>
                    <a:pt x="0" y="0"/>
                  </a:moveTo>
                  <a:lnTo>
                    <a:pt x="938280" y="0"/>
                  </a:lnTo>
                  <a:lnTo>
                    <a:pt x="938280" y="1038568"/>
                  </a:lnTo>
                  <a:lnTo>
                    <a:pt x="0" y="1038568"/>
                  </a:lnTo>
                  <a:lnTo>
                    <a:pt x="0" y="0"/>
                  </a:lnTo>
                  <a:close/>
                </a:path>
              </a:pathLst>
            </a:custGeom>
            <a:blipFill>
              <a:blip r:embed="rId10"/>
              <a:stretch>
                <a:fillRect l="0" t="0" r="0" b="0"/>
              </a:stretch>
            </a:blipFill>
          </p:spPr>
        </p:sp>
        <p:sp>
          <p:nvSpPr>
            <p:cNvPr name="Freeform 33" id="33"/>
            <p:cNvSpPr/>
            <p:nvPr/>
          </p:nvSpPr>
          <p:spPr>
            <a:xfrm flipH="false" flipV="false" rot="0">
              <a:off x="3496949" y="98484"/>
              <a:ext cx="1044322" cy="1039859"/>
            </a:xfrm>
            <a:custGeom>
              <a:avLst/>
              <a:gdLst/>
              <a:ahLst/>
              <a:cxnLst/>
              <a:rect r="r" b="b" t="t" l="l"/>
              <a:pathLst>
                <a:path h="1039859" w="1044322">
                  <a:moveTo>
                    <a:pt x="0" y="0"/>
                  </a:moveTo>
                  <a:lnTo>
                    <a:pt x="1044322" y="0"/>
                  </a:lnTo>
                  <a:lnTo>
                    <a:pt x="1044322" y="1039858"/>
                  </a:lnTo>
                  <a:lnTo>
                    <a:pt x="0" y="1039858"/>
                  </a:lnTo>
                  <a:lnTo>
                    <a:pt x="0" y="0"/>
                  </a:lnTo>
                  <a:close/>
                </a:path>
              </a:pathLst>
            </a:custGeom>
            <a:blipFill>
              <a:blip r:embed="rId11"/>
              <a:stretch>
                <a:fillRect l="0" t="0" r="0" b="0"/>
              </a:stretch>
            </a:blipFill>
          </p:spPr>
        </p:sp>
        <p:sp>
          <p:nvSpPr>
            <p:cNvPr name="Freeform 34" id="34"/>
            <p:cNvSpPr/>
            <p:nvPr/>
          </p:nvSpPr>
          <p:spPr>
            <a:xfrm flipH="false" flipV="false" rot="0">
              <a:off x="1496830" y="98484"/>
              <a:ext cx="1039859" cy="1039859"/>
            </a:xfrm>
            <a:custGeom>
              <a:avLst/>
              <a:gdLst/>
              <a:ahLst/>
              <a:cxnLst/>
              <a:rect r="r" b="b" t="t" l="l"/>
              <a:pathLst>
                <a:path h="1039859" w="1039859">
                  <a:moveTo>
                    <a:pt x="0" y="0"/>
                  </a:moveTo>
                  <a:lnTo>
                    <a:pt x="1039858" y="0"/>
                  </a:lnTo>
                  <a:lnTo>
                    <a:pt x="1039858" y="1039858"/>
                  </a:lnTo>
                  <a:lnTo>
                    <a:pt x="0" y="1039858"/>
                  </a:lnTo>
                  <a:lnTo>
                    <a:pt x="0" y="0"/>
                  </a:lnTo>
                  <a:close/>
                </a:path>
              </a:pathLst>
            </a:custGeom>
            <a:blipFill>
              <a:blip r:embed="rId12"/>
              <a:stretch>
                <a:fillRect l="0" t="0" r="0" b="0"/>
              </a:stretch>
            </a:blipFill>
          </p:spPr>
        </p:sp>
        <p:sp>
          <p:nvSpPr>
            <p:cNvPr name="Freeform 35" id="35"/>
            <p:cNvSpPr/>
            <p:nvPr/>
          </p:nvSpPr>
          <p:spPr>
            <a:xfrm flipH="false" flipV="false" rot="0">
              <a:off x="362098" y="122166"/>
              <a:ext cx="1033131" cy="1033131"/>
            </a:xfrm>
            <a:custGeom>
              <a:avLst/>
              <a:gdLst/>
              <a:ahLst/>
              <a:cxnLst/>
              <a:rect r="r" b="b" t="t" l="l"/>
              <a:pathLst>
                <a:path h="1033131" w="1033131">
                  <a:moveTo>
                    <a:pt x="0" y="0"/>
                  </a:moveTo>
                  <a:lnTo>
                    <a:pt x="1033132" y="0"/>
                  </a:lnTo>
                  <a:lnTo>
                    <a:pt x="1033132" y="1033132"/>
                  </a:lnTo>
                  <a:lnTo>
                    <a:pt x="0" y="1033132"/>
                  </a:lnTo>
                  <a:lnTo>
                    <a:pt x="0" y="0"/>
                  </a:lnTo>
                  <a:close/>
                </a:path>
              </a:pathLst>
            </a:custGeom>
            <a:blipFill>
              <a:blip r:embed="rId13"/>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9EA"/>
        </a:solidFill>
      </p:bgPr>
    </p:bg>
    <p:spTree>
      <p:nvGrpSpPr>
        <p:cNvPr id="1" name=""/>
        <p:cNvGrpSpPr/>
        <p:nvPr/>
      </p:nvGrpSpPr>
      <p:grpSpPr>
        <a:xfrm>
          <a:off x="0" y="0"/>
          <a:ext cx="0" cy="0"/>
          <a:chOff x="0" y="0"/>
          <a:chExt cx="0" cy="0"/>
        </a:xfrm>
      </p:grpSpPr>
      <p:grpSp>
        <p:nvGrpSpPr>
          <p:cNvPr name="Group 2" id="2"/>
          <p:cNvGrpSpPr/>
          <p:nvPr/>
        </p:nvGrpSpPr>
        <p:grpSpPr>
          <a:xfrm rot="0">
            <a:off x="-316746" y="9258300"/>
            <a:ext cx="18921492" cy="1543050"/>
            <a:chOff x="0" y="0"/>
            <a:chExt cx="4983438" cy="406400"/>
          </a:xfrm>
        </p:grpSpPr>
        <p:sp>
          <p:nvSpPr>
            <p:cNvPr name="Freeform 3" id="3"/>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FEBF25"/>
            </a:solidFill>
          </p:spPr>
        </p:sp>
        <p:sp>
          <p:nvSpPr>
            <p:cNvPr name="TextBox 4" id="4"/>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15800" y="6172200"/>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0" y="6172200"/>
            <a:ext cx="6172200" cy="4114800"/>
          </a:xfrm>
          <a:custGeom>
            <a:avLst/>
            <a:gdLst/>
            <a:ahLst/>
            <a:cxnLst/>
            <a:rect r="r" b="b" t="t" l="l"/>
            <a:pathLst>
              <a:path h="4114800" w="6172200">
                <a:moveTo>
                  <a:pt x="6172200" y="0"/>
                </a:moveTo>
                <a:lnTo>
                  <a:pt x="0" y="0"/>
                </a:lnTo>
                <a:lnTo>
                  <a:pt x="0" y="4114800"/>
                </a:lnTo>
                <a:lnTo>
                  <a:pt x="6172200" y="4114800"/>
                </a:lnTo>
                <a:lnTo>
                  <a:pt x="6172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0" y="0"/>
            <a:ext cx="2279859" cy="2279859"/>
          </a:xfrm>
          <a:custGeom>
            <a:avLst/>
            <a:gdLst/>
            <a:ahLst/>
            <a:cxnLst/>
            <a:rect r="r" b="b" t="t" l="l"/>
            <a:pathLst>
              <a:path h="2279859" w="2279859">
                <a:moveTo>
                  <a:pt x="2279859" y="0"/>
                </a:moveTo>
                <a:lnTo>
                  <a:pt x="0" y="0"/>
                </a:lnTo>
                <a:lnTo>
                  <a:pt x="0" y="2279859"/>
                </a:lnTo>
                <a:lnTo>
                  <a:pt x="2279859" y="2279859"/>
                </a:lnTo>
                <a:lnTo>
                  <a:pt x="2279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583472" y="1567247"/>
            <a:ext cx="696388" cy="6963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008141" y="0"/>
            <a:ext cx="2279859" cy="2279859"/>
          </a:xfrm>
          <a:custGeom>
            <a:avLst/>
            <a:gdLst/>
            <a:ahLst/>
            <a:cxnLst/>
            <a:rect r="r" b="b" t="t" l="l"/>
            <a:pathLst>
              <a:path h="2279859" w="2279859">
                <a:moveTo>
                  <a:pt x="0" y="0"/>
                </a:moveTo>
                <a:lnTo>
                  <a:pt x="2279859" y="0"/>
                </a:lnTo>
                <a:lnTo>
                  <a:pt x="2279859" y="2279859"/>
                </a:lnTo>
                <a:lnTo>
                  <a:pt x="0" y="2279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6008141" y="1583472"/>
            <a:ext cx="696388" cy="6963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486837" y="47625"/>
            <a:ext cx="696388" cy="69638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3350" y="28575"/>
            <a:ext cx="696388" cy="6963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220621"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6533599"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977243" y="7158323"/>
            <a:ext cx="12333514" cy="931545"/>
          </a:xfrm>
          <a:prstGeom prst="rect">
            <a:avLst/>
          </a:prstGeom>
        </p:spPr>
        <p:txBody>
          <a:bodyPr anchor="t" rtlCol="false" tIns="0" lIns="0" bIns="0" rIns="0">
            <a:spAutoFit/>
          </a:bodyPr>
          <a:lstStyle/>
          <a:p>
            <a:pPr algn="just">
              <a:lnSpc>
                <a:spcPts val="3779"/>
              </a:lnSpc>
              <a:spcBef>
                <a:spcPct val="0"/>
              </a:spcBef>
            </a:pPr>
            <a:r>
              <a:rPr lang="en-US" b="true" sz="2700">
                <a:solidFill>
                  <a:srgbClr val="233173"/>
                </a:solidFill>
                <a:latin typeface="Century Gothic Paneuropean Bold"/>
                <a:ea typeface="Century Gothic Paneuropean Bold"/>
                <a:cs typeface="Century Gothic Paneuropean Bold"/>
                <a:sym typeface="Century Gothic Paneuropean Bold"/>
              </a:rPr>
              <a:t>Mayoritas mahasiswa asrama (60%) memiliki status pembiayaan mandiri. Sedangkan Proporsi penerima beasiswa berada pada angka 40%.</a:t>
            </a:r>
          </a:p>
        </p:txBody>
      </p:sp>
      <p:sp>
        <p:nvSpPr>
          <p:cNvPr name="TextBox 24" id="24"/>
          <p:cNvSpPr txBox="true"/>
          <p:nvPr/>
        </p:nvSpPr>
        <p:spPr>
          <a:xfrm rot="0">
            <a:off x="2519812" y="2295566"/>
            <a:ext cx="13248377" cy="1076328"/>
          </a:xfrm>
          <a:prstGeom prst="rect">
            <a:avLst/>
          </a:prstGeom>
        </p:spPr>
        <p:txBody>
          <a:bodyPr anchor="t" rtlCol="false" tIns="0" lIns="0" bIns="0" rIns="0">
            <a:spAutoFit/>
          </a:bodyPr>
          <a:lstStyle/>
          <a:p>
            <a:pPr algn="ctr">
              <a:lnSpc>
                <a:spcPts val="8100"/>
              </a:lnSpc>
            </a:pPr>
            <a:r>
              <a:rPr lang="en-US" b="true" sz="7500">
                <a:solidFill>
                  <a:srgbClr val="233173"/>
                </a:solidFill>
                <a:latin typeface="Croogla Bold"/>
                <a:ea typeface="Croogla Bold"/>
                <a:cs typeface="Croogla Bold"/>
                <a:sym typeface="Croogla Bold"/>
              </a:rPr>
              <a:t>HASIL ANALISIS DESKRIPTIF</a:t>
            </a:r>
          </a:p>
        </p:txBody>
      </p:sp>
      <p:pic>
        <p:nvPicPr>
          <p:cNvPr name="Picture 25" id="25"/>
          <p:cNvPicPr>
            <a:picLocks noChangeAspect="true"/>
          </p:cNvPicPr>
          <p:nvPr/>
        </p:nvPicPr>
        <p:blipFill>
          <a:blip r:embed="rId8"/>
          <a:stretch>
            <a:fillRect/>
          </a:stretch>
        </p:blipFill>
        <p:spPr>
          <a:xfrm rot="0">
            <a:off x="2635759" y="2538076"/>
            <a:ext cx="12236760" cy="5689015"/>
          </a:xfrm>
          <a:prstGeom prst="rect">
            <a:avLst/>
          </a:prstGeom>
        </p:spPr>
      </p:pic>
      <p:sp>
        <p:nvSpPr>
          <p:cNvPr name="TextBox 26" id="26"/>
          <p:cNvSpPr txBox="true"/>
          <p:nvPr/>
        </p:nvSpPr>
        <p:spPr>
          <a:xfrm rot="0">
            <a:off x="3086100" y="3510181"/>
            <a:ext cx="12115800" cy="455295"/>
          </a:xfrm>
          <a:prstGeom prst="rect">
            <a:avLst/>
          </a:prstGeom>
        </p:spPr>
        <p:txBody>
          <a:bodyPr anchor="t" rtlCol="false" tIns="0" lIns="0" bIns="0" rIns="0">
            <a:spAutoFit/>
          </a:bodyPr>
          <a:lstStyle/>
          <a:p>
            <a:pPr algn="just">
              <a:lnSpc>
                <a:spcPts val="3779"/>
              </a:lnSpc>
              <a:spcBef>
                <a:spcPct val="0"/>
              </a:spcBef>
            </a:pPr>
            <a:r>
              <a:rPr lang="en-US" b="true" sz="2700">
                <a:solidFill>
                  <a:srgbClr val="233173"/>
                </a:solidFill>
                <a:latin typeface="Century Gothic Paneuropean Bold"/>
                <a:ea typeface="Century Gothic Paneuropean Bold"/>
                <a:cs typeface="Century Gothic Paneuropean Bold"/>
                <a:sym typeface="Century Gothic Paneuropean Bold"/>
              </a:rPr>
              <a:t>Proporsi Status Beasiswa</a:t>
            </a:r>
          </a:p>
        </p:txBody>
      </p:sp>
      <p:grpSp>
        <p:nvGrpSpPr>
          <p:cNvPr name="Group 27" id="27"/>
          <p:cNvGrpSpPr/>
          <p:nvPr/>
        </p:nvGrpSpPr>
        <p:grpSpPr>
          <a:xfrm rot="0">
            <a:off x="6854973" y="541792"/>
            <a:ext cx="4578054" cy="1041680"/>
            <a:chOff x="0" y="0"/>
            <a:chExt cx="6104073" cy="1388906"/>
          </a:xfrm>
        </p:grpSpPr>
        <p:grpSp>
          <p:nvGrpSpPr>
            <p:cNvPr name="Group 28" id="28"/>
            <p:cNvGrpSpPr/>
            <p:nvPr/>
          </p:nvGrpSpPr>
          <p:grpSpPr>
            <a:xfrm rot="0">
              <a:off x="0" y="0"/>
              <a:ext cx="6104073" cy="1388906"/>
              <a:chOff x="0" y="0"/>
              <a:chExt cx="1205743" cy="274352"/>
            </a:xfrm>
          </p:grpSpPr>
          <p:sp>
            <p:nvSpPr>
              <p:cNvPr name="Freeform 29" id="29"/>
              <p:cNvSpPr/>
              <p:nvPr/>
            </p:nvSpPr>
            <p:spPr>
              <a:xfrm flipH="false" flipV="false" rot="0">
                <a:off x="0" y="0"/>
                <a:ext cx="1205743" cy="274352"/>
              </a:xfrm>
              <a:custGeom>
                <a:avLst/>
                <a:gdLst/>
                <a:ahLst/>
                <a:cxnLst/>
                <a:rect r="r" b="b" t="t" l="l"/>
                <a:pathLst>
                  <a:path h="274352" w="1205743">
                    <a:moveTo>
                      <a:pt x="86246" y="0"/>
                    </a:moveTo>
                    <a:lnTo>
                      <a:pt x="1119497" y="0"/>
                    </a:lnTo>
                    <a:cubicBezTo>
                      <a:pt x="1142371" y="0"/>
                      <a:pt x="1164308" y="9087"/>
                      <a:pt x="1180482" y="25261"/>
                    </a:cubicBezTo>
                    <a:cubicBezTo>
                      <a:pt x="1196656" y="41435"/>
                      <a:pt x="1205743" y="63372"/>
                      <a:pt x="1205743" y="86246"/>
                    </a:cubicBezTo>
                    <a:lnTo>
                      <a:pt x="1205743" y="188106"/>
                    </a:lnTo>
                    <a:cubicBezTo>
                      <a:pt x="1205743" y="210980"/>
                      <a:pt x="1196656" y="232917"/>
                      <a:pt x="1180482" y="249091"/>
                    </a:cubicBezTo>
                    <a:cubicBezTo>
                      <a:pt x="1164308" y="265265"/>
                      <a:pt x="1142371" y="274352"/>
                      <a:pt x="1119497" y="274352"/>
                    </a:cubicBezTo>
                    <a:lnTo>
                      <a:pt x="86246" y="274352"/>
                    </a:lnTo>
                    <a:cubicBezTo>
                      <a:pt x="63372" y="274352"/>
                      <a:pt x="41435" y="265265"/>
                      <a:pt x="25261" y="249091"/>
                    </a:cubicBezTo>
                    <a:cubicBezTo>
                      <a:pt x="9087" y="232917"/>
                      <a:pt x="0" y="210980"/>
                      <a:pt x="0" y="188106"/>
                    </a:cubicBezTo>
                    <a:lnTo>
                      <a:pt x="0" y="86246"/>
                    </a:lnTo>
                    <a:cubicBezTo>
                      <a:pt x="0" y="63372"/>
                      <a:pt x="9087" y="41435"/>
                      <a:pt x="25261" y="25261"/>
                    </a:cubicBezTo>
                    <a:cubicBezTo>
                      <a:pt x="41435" y="9087"/>
                      <a:pt x="63372" y="0"/>
                      <a:pt x="86246" y="0"/>
                    </a:cubicBezTo>
                    <a:close/>
                  </a:path>
                </a:pathLst>
              </a:custGeom>
              <a:solidFill>
                <a:srgbClr val="FFFFFF"/>
              </a:solidFill>
            </p:spPr>
          </p:sp>
          <p:sp>
            <p:nvSpPr>
              <p:cNvPr name="TextBox 30" id="30"/>
              <p:cNvSpPr txBox="true"/>
              <p:nvPr/>
            </p:nvSpPr>
            <p:spPr>
              <a:xfrm>
                <a:off x="0" y="-38100"/>
                <a:ext cx="1205743" cy="312452"/>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2372740" y="56308"/>
              <a:ext cx="1124209" cy="1124209"/>
            </a:xfrm>
            <a:custGeom>
              <a:avLst/>
              <a:gdLst/>
              <a:ahLst/>
              <a:cxnLst/>
              <a:rect r="r" b="b" t="t" l="l"/>
              <a:pathLst>
                <a:path h="1124209" w="1124209">
                  <a:moveTo>
                    <a:pt x="0" y="0"/>
                  </a:moveTo>
                  <a:lnTo>
                    <a:pt x="1124209" y="0"/>
                  </a:lnTo>
                  <a:lnTo>
                    <a:pt x="1124209" y="1124209"/>
                  </a:lnTo>
                  <a:lnTo>
                    <a:pt x="0" y="1124209"/>
                  </a:lnTo>
                  <a:lnTo>
                    <a:pt x="0" y="0"/>
                  </a:lnTo>
                  <a:close/>
                </a:path>
              </a:pathLst>
            </a:custGeom>
            <a:blipFill>
              <a:blip r:embed="rId9"/>
              <a:stretch>
                <a:fillRect l="0" t="0" r="0" b="0"/>
              </a:stretch>
            </a:blipFill>
          </p:spPr>
        </p:sp>
        <p:sp>
          <p:nvSpPr>
            <p:cNvPr name="Freeform 32" id="32"/>
            <p:cNvSpPr/>
            <p:nvPr/>
          </p:nvSpPr>
          <p:spPr>
            <a:xfrm flipH="false" flipV="false" rot="0">
              <a:off x="4644101" y="98484"/>
              <a:ext cx="938280" cy="1038569"/>
            </a:xfrm>
            <a:custGeom>
              <a:avLst/>
              <a:gdLst/>
              <a:ahLst/>
              <a:cxnLst/>
              <a:rect r="r" b="b" t="t" l="l"/>
              <a:pathLst>
                <a:path h="1038569" w="938280">
                  <a:moveTo>
                    <a:pt x="0" y="0"/>
                  </a:moveTo>
                  <a:lnTo>
                    <a:pt x="938280" y="0"/>
                  </a:lnTo>
                  <a:lnTo>
                    <a:pt x="938280" y="1038568"/>
                  </a:lnTo>
                  <a:lnTo>
                    <a:pt x="0" y="1038568"/>
                  </a:lnTo>
                  <a:lnTo>
                    <a:pt x="0" y="0"/>
                  </a:lnTo>
                  <a:close/>
                </a:path>
              </a:pathLst>
            </a:custGeom>
            <a:blipFill>
              <a:blip r:embed="rId10"/>
              <a:stretch>
                <a:fillRect l="0" t="0" r="0" b="0"/>
              </a:stretch>
            </a:blipFill>
          </p:spPr>
        </p:sp>
        <p:sp>
          <p:nvSpPr>
            <p:cNvPr name="Freeform 33" id="33"/>
            <p:cNvSpPr/>
            <p:nvPr/>
          </p:nvSpPr>
          <p:spPr>
            <a:xfrm flipH="false" flipV="false" rot="0">
              <a:off x="3496949" y="98484"/>
              <a:ext cx="1044322" cy="1039859"/>
            </a:xfrm>
            <a:custGeom>
              <a:avLst/>
              <a:gdLst/>
              <a:ahLst/>
              <a:cxnLst/>
              <a:rect r="r" b="b" t="t" l="l"/>
              <a:pathLst>
                <a:path h="1039859" w="1044322">
                  <a:moveTo>
                    <a:pt x="0" y="0"/>
                  </a:moveTo>
                  <a:lnTo>
                    <a:pt x="1044322" y="0"/>
                  </a:lnTo>
                  <a:lnTo>
                    <a:pt x="1044322" y="1039858"/>
                  </a:lnTo>
                  <a:lnTo>
                    <a:pt x="0" y="1039858"/>
                  </a:lnTo>
                  <a:lnTo>
                    <a:pt x="0" y="0"/>
                  </a:lnTo>
                  <a:close/>
                </a:path>
              </a:pathLst>
            </a:custGeom>
            <a:blipFill>
              <a:blip r:embed="rId11"/>
              <a:stretch>
                <a:fillRect l="0" t="0" r="0" b="0"/>
              </a:stretch>
            </a:blipFill>
          </p:spPr>
        </p:sp>
        <p:sp>
          <p:nvSpPr>
            <p:cNvPr name="Freeform 34" id="34"/>
            <p:cNvSpPr/>
            <p:nvPr/>
          </p:nvSpPr>
          <p:spPr>
            <a:xfrm flipH="false" flipV="false" rot="0">
              <a:off x="1496830" y="98484"/>
              <a:ext cx="1039859" cy="1039859"/>
            </a:xfrm>
            <a:custGeom>
              <a:avLst/>
              <a:gdLst/>
              <a:ahLst/>
              <a:cxnLst/>
              <a:rect r="r" b="b" t="t" l="l"/>
              <a:pathLst>
                <a:path h="1039859" w="1039859">
                  <a:moveTo>
                    <a:pt x="0" y="0"/>
                  </a:moveTo>
                  <a:lnTo>
                    <a:pt x="1039858" y="0"/>
                  </a:lnTo>
                  <a:lnTo>
                    <a:pt x="1039858" y="1039858"/>
                  </a:lnTo>
                  <a:lnTo>
                    <a:pt x="0" y="1039858"/>
                  </a:lnTo>
                  <a:lnTo>
                    <a:pt x="0" y="0"/>
                  </a:lnTo>
                  <a:close/>
                </a:path>
              </a:pathLst>
            </a:custGeom>
            <a:blipFill>
              <a:blip r:embed="rId12"/>
              <a:stretch>
                <a:fillRect l="0" t="0" r="0" b="0"/>
              </a:stretch>
            </a:blipFill>
          </p:spPr>
        </p:sp>
        <p:sp>
          <p:nvSpPr>
            <p:cNvPr name="Freeform 35" id="35"/>
            <p:cNvSpPr/>
            <p:nvPr/>
          </p:nvSpPr>
          <p:spPr>
            <a:xfrm flipH="false" flipV="false" rot="0">
              <a:off x="362098" y="122166"/>
              <a:ext cx="1033131" cy="1033131"/>
            </a:xfrm>
            <a:custGeom>
              <a:avLst/>
              <a:gdLst/>
              <a:ahLst/>
              <a:cxnLst/>
              <a:rect r="r" b="b" t="t" l="l"/>
              <a:pathLst>
                <a:path h="1033131" w="1033131">
                  <a:moveTo>
                    <a:pt x="0" y="0"/>
                  </a:moveTo>
                  <a:lnTo>
                    <a:pt x="1033132" y="0"/>
                  </a:lnTo>
                  <a:lnTo>
                    <a:pt x="1033132" y="1033132"/>
                  </a:lnTo>
                  <a:lnTo>
                    <a:pt x="0" y="1033132"/>
                  </a:lnTo>
                  <a:lnTo>
                    <a:pt x="0" y="0"/>
                  </a:lnTo>
                  <a:close/>
                </a:path>
              </a:pathLst>
            </a:custGeom>
            <a:blipFill>
              <a:blip r:embed="rId13"/>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9EA"/>
        </a:solidFill>
      </p:bgPr>
    </p:bg>
    <p:spTree>
      <p:nvGrpSpPr>
        <p:cNvPr id="1" name=""/>
        <p:cNvGrpSpPr/>
        <p:nvPr/>
      </p:nvGrpSpPr>
      <p:grpSpPr>
        <a:xfrm>
          <a:off x="0" y="0"/>
          <a:ext cx="0" cy="0"/>
          <a:chOff x="0" y="0"/>
          <a:chExt cx="0" cy="0"/>
        </a:xfrm>
      </p:grpSpPr>
      <p:grpSp>
        <p:nvGrpSpPr>
          <p:cNvPr name="Group 2" id="2"/>
          <p:cNvGrpSpPr/>
          <p:nvPr/>
        </p:nvGrpSpPr>
        <p:grpSpPr>
          <a:xfrm rot="0">
            <a:off x="-316746" y="9258300"/>
            <a:ext cx="18921492" cy="1543050"/>
            <a:chOff x="0" y="0"/>
            <a:chExt cx="4983438" cy="406400"/>
          </a:xfrm>
        </p:grpSpPr>
        <p:sp>
          <p:nvSpPr>
            <p:cNvPr name="Freeform 3" id="3"/>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FEBF25"/>
            </a:solidFill>
          </p:spPr>
        </p:sp>
        <p:sp>
          <p:nvSpPr>
            <p:cNvPr name="TextBox 4" id="4"/>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15800" y="6172200"/>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0" y="6172200"/>
            <a:ext cx="6172200" cy="4114800"/>
          </a:xfrm>
          <a:custGeom>
            <a:avLst/>
            <a:gdLst/>
            <a:ahLst/>
            <a:cxnLst/>
            <a:rect r="r" b="b" t="t" l="l"/>
            <a:pathLst>
              <a:path h="4114800" w="6172200">
                <a:moveTo>
                  <a:pt x="6172200" y="0"/>
                </a:moveTo>
                <a:lnTo>
                  <a:pt x="0" y="0"/>
                </a:lnTo>
                <a:lnTo>
                  <a:pt x="0" y="4114800"/>
                </a:lnTo>
                <a:lnTo>
                  <a:pt x="6172200" y="4114800"/>
                </a:lnTo>
                <a:lnTo>
                  <a:pt x="6172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0" y="0"/>
            <a:ext cx="2279859" cy="2279859"/>
          </a:xfrm>
          <a:custGeom>
            <a:avLst/>
            <a:gdLst/>
            <a:ahLst/>
            <a:cxnLst/>
            <a:rect r="r" b="b" t="t" l="l"/>
            <a:pathLst>
              <a:path h="2279859" w="2279859">
                <a:moveTo>
                  <a:pt x="2279859" y="0"/>
                </a:moveTo>
                <a:lnTo>
                  <a:pt x="0" y="0"/>
                </a:lnTo>
                <a:lnTo>
                  <a:pt x="0" y="2279859"/>
                </a:lnTo>
                <a:lnTo>
                  <a:pt x="2279859" y="2279859"/>
                </a:lnTo>
                <a:lnTo>
                  <a:pt x="2279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583472" y="1567247"/>
            <a:ext cx="696388" cy="6963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008141" y="0"/>
            <a:ext cx="2279859" cy="2279859"/>
          </a:xfrm>
          <a:custGeom>
            <a:avLst/>
            <a:gdLst/>
            <a:ahLst/>
            <a:cxnLst/>
            <a:rect r="r" b="b" t="t" l="l"/>
            <a:pathLst>
              <a:path h="2279859" w="2279859">
                <a:moveTo>
                  <a:pt x="0" y="0"/>
                </a:moveTo>
                <a:lnTo>
                  <a:pt x="2279859" y="0"/>
                </a:lnTo>
                <a:lnTo>
                  <a:pt x="2279859" y="2279859"/>
                </a:lnTo>
                <a:lnTo>
                  <a:pt x="0" y="2279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6008141" y="1583472"/>
            <a:ext cx="696388" cy="6963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486837" y="47625"/>
            <a:ext cx="696388" cy="69638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3350" y="28575"/>
            <a:ext cx="696388" cy="6963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220621"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6533599"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899062" y="4332201"/>
            <a:ext cx="5396658" cy="3256857"/>
          </a:xfrm>
          <a:prstGeom prst="rect">
            <a:avLst/>
          </a:prstGeom>
        </p:spPr>
        <p:txBody>
          <a:bodyPr anchor="t" rtlCol="false" tIns="0" lIns="0" bIns="0" rIns="0">
            <a:spAutoFit/>
          </a:bodyPr>
          <a:lstStyle/>
          <a:p>
            <a:pPr algn="just">
              <a:lnSpc>
                <a:spcPts val="3713"/>
              </a:lnSpc>
              <a:spcBef>
                <a:spcPct val="0"/>
              </a:spcBef>
            </a:pPr>
            <a:r>
              <a:rPr lang="en-US" sz="2652">
                <a:solidFill>
                  <a:srgbClr val="233173"/>
                </a:solidFill>
                <a:latin typeface="Century Gothic Paneuropean"/>
                <a:ea typeface="Century Gothic Paneuropean"/>
                <a:cs typeface="Century Gothic Paneuropean"/>
                <a:sym typeface="Century Gothic Paneuropean"/>
              </a:rPr>
              <a:t>Terdapat dominasi signifikan mahasiswa asal luar daerah (perantau), mencakup hampir tiga perempat populasi asrama. Pola ini menegaskan tingginya keragaman geografis di lingkungan asrama TPB.</a:t>
            </a:r>
          </a:p>
        </p:txBody>
      </p:sp>
      <p:sp>
        <p:nvSpPr>
          <p:cNvPr name="TextBox 24" id="24"/>
          <p:cNvSpPr txBox="true"/>
          <p:nvPr/>
        </p:nvSpPr>
        <p:spPr>
          <a:xfrm rot="0">
            <a:off x="2519812" y="2295566"/>
            <a:ext cx="13248377" cy="1076328"/>
          </a:xfrm>
          <a:prstGeom prst="rect">
            <a:avLst/>
          </a:prstGeom>
        </p:spPr>
        <p:txBody>
          <a:bodyPr anchor="t" rtlCol="false" tIns="0" lIns="0" bIns="0" rIns="0">
            <a:spAutoFit/>
          </a:bodyPr>
          <a:lstStyle/>
          <a:p>
            <a:pPr algn="ctr">
              <a:lnSpc>
                <a:spcPts val="8100"/>
              </a:lnSpc>
            </a:pPr>
            <a:r>
              <a:rPr lang="en-US" b="true" sz="7500">
                <a:solidFill>
                  <a:srgbClr val="233173"/>
                </a:solidFill>
                <a:latin typeface="Croogla Bold"/>
                <a:ea typeface="Croogla Bold"/>
                <a:cs typeface="Croogla Bold"/>
                <a:sym typeface="Croogla Bold"/>
              </a:rPr>
              <a:t>HASIL ANALISIS DESKRIPTIF</a:t>
            </a:r>
          </a:p>
        </p:txBody>
      </p:sp>
      <p:sp>
        <p:nvSpPr>
          <p:cNvPr name="TextBox 25" id="25"/>
          <p:cNvSpPr txBox="true"/>
          <p:nvPr/>
        </p:nvSpPr>
        <p:spPr>
          <a:xfrm rot="0">
            <a:off x="2899062" y="3590970"/>
            <a:ext cx="12115800" cy="554355"/>
          </a:xfrm>
          <a:prstGeom prst="rect">
            <a:avLst/>
          </a:prstGeom>
        </p:spPr>
        <p:txBody>
          <a:bodyPr anchor="t" rtlCol="false" tIns="0" lIns="0" bIns="0" rIns="0">
            <a:spAutoFit/>
          </a:bodyPr>
          <a:lstStyle/>
          <a:p>
            <a:pPr algn="just">
              <a:lnSpc>
                <a:spcPts val="4619"/>
              </a:lnSpc>
              <a:spcBef>
                <a:spcPct val="0"/>
              </a:spcBef>
            </a:pPr>
            <a:r>
              <a:rPr lang="en-US" b="true" sz="3299">
                <a:solidFill>
                  <a:srgbClr val="233173"/>
                </a:solidFill>
                <a:latin typeface="Century Gothic Paneuropean Bold"/>
                <a:ea typeface="Century Gothic Paneuropean Bold"/>
                <a:cs typeface="Century Gothic Paneuropean Bold"/>
                <a:sym typeface="Century Gothic Paneuropean Bold"/>
              </a:rPr>
              <a:t>Proporsi Asal Daerah</a:t>
            </a:r>
          </a:p>
        </p:txBody>
      </p:sp>
      <p:pic>
        <p:nvPicPr>
          <p:cNvPr name="Picture 26" id="26"/>
          <p:cNvPicPr>
            <a:picLocks noChangeAspect="true"/>
          </p:cNvPicPr>
          <p:nvPr/>
        </p:nvPicPr>
        <p:blipFill>
          <a:blip r:embed="rId8"/>
          <a:stretch>
            <a:fillRect/>
          </a:stretch>
        </p:blipFill>
        <p:spPr>
          <a:xfrm rot="0">
            <a:off x="8292442" y="2983600"/>
            <a:ext cx="7974235" cy="6011208"/>
          </a:xfrm>
          <a:prstGeom prst="rect">
            <a:avLst/>
          </a:prstGeom>
        </p:spPr>
      </p:pic>
      <p:grpSp>
        <p:nvGrpSpPr>
          <p:cNvPr name="Group 27" id="27"/>
          <p:cNvGrpSpPr/>
          <p:nvPr/>
        </p:nvGrpSpPr>
        <p:grpSpPr>
          <a:xfrm rot="0">
            <a:off x="6854973" y="507860"/>
            <a:ext cx="4578054" cy="1041680"/>
            <a:chOff x="0" y="0"/>
            <a:chExt cx="6104073" cy="1388906"/>
          </a:xfrm>
        </p:grpSpPr>
        <p:grpSp>
          <p:nvGrpSpPr>
            <p:cNvPr name="Group 28" id="28"/>
            <p:cNvGrpSpPr/>
            <p:nvPr/>
          </p:nvGrpSpPr>
          <p:grpSpPr>
            <a:xfrm rot="0">
              <a:off x="0" y="0"/>
              <a:ext cx="6104073" cy="1388906"/>
              <a:chOff x="0" y="0"/>
              <a:chExt cx="1205743" cy="274352"/>
            </a:xfrm>
          </p:grpSpPr>
          <p:sp>
            <p:nvSpPr>
              <p:cNvPr name="Freeform 29" id="29"/>
              <p:cNvSpPr/>
              <p:nvPr/>
            </p:nvSpPr>
            <p:spPr>
              <a:xfrm flipH="false" flipV="false" rot="0">
                <a:off x="0" y="0"/>
                <a:ext cx="1205743" cy="274352"/>
              </a:xfrm>
              <a:custGeom>
                <a:avLst/>
                <a:gdLst/>
                <a:ahLst/>
                <a:cxnLst/>
                <a:rect r="r" b="b" t="t" l="l"/>
                <a:pathLst>
                  <a:path h="274352" w="1205743">
                    <a:moveTo>
                      <a:pt x="86246" y="0"/>
                    </a:moveTo>
                    <a:lnTo>
                      <a:pt x="1119497" y="0"/>
                    </a:lnTo>
                    <a:cubicBezTo>
                      <a:pt x="1142371" y="0"/>
                      <a:pt x="1164308" y="9087"/>
                      <a:pt x="1180482" y="25261"/>
                    </a:cubicBezTo>
                    <a:cubicBezTo>
                      <a:pt x="1196656" y="41435"/>
                      <a:pt x="1205743" y="63372"/>
                      <a:pt x="1205743" y="86246"/>
                    </a:cubicBezTo>
                    <a:lnTo>
                      <a:pt x="1205743" y="188106"/>
                    </a:lnTo>
                    <a:cubicBezTo>
                      <a:pt x="1205743" y="210980"/>
                      <a:pt x="1196656" y="232917"/>
                      <a:pt x="1180482" y="249091"/>
                    </a:cubicBezTo>
                    <a:cubicBezTo>
                      <a:pt x="1164308" y="265265"/>
                      <a:pt x="1142371" y="274352"/>
                      <a:pt x="1119497" y="274352"/>
                    </a:cubicBezTo>
                    <a:lnTo>
                      <a:pt x="86246" y="274352"/>
                    </a:lnTo>
                    <a:cubicBezTo>
                      <a:pt x="63372" y="274352"/>
                      <a:pt x="41435" y="265265"/>
                      <a:pt x="25261" y="249091"/>
                    </a:cubicBezTo>
                    <a:cubicBezTo>
                      <a:pt x="9087" y="232917"/>
                      <a:pt x="0" y="210980"/>
                      <a:pt x="0" y="188106"/>
                    </a:cubicBezTo>
                    <a:lnTo>
                      <a:pt x="0" y="86246"/>
                    </a:lnTo>
                    <a:cubicBezTo>
                      <a:pt x="0" y="63372"/>
                      <a:pt x="9087" y="41435"/>
                      <a:pt x="25261" y="25261"/>
                    </a:cubicBezTo>
                    <a:cubicBezTo>
                      <a:pt x="41435" y="9087"/>
                      <a:pt x="63372" y="0"/>
                      <a:pt x="86246" y="0"/>
                    </a:cubicBezTo>
                    <a:close/>
                  </a:path>
                </a:pathLst>
              </a:custGeom>
              <a:solidFill>
                <a:srgbClr val="FFFFFF"/>
              </a:solidFill>
            </p:spPr>
          </p:sp>
          <p:sp>
            <p:nvSpPr>
              <p:cNvPr name="TextBox 30" id="30"/>
              <p:cNvSpPr txBox="true"/>
              <p:nvPr/>
            </p:nvSpPr>
            <p:spPr>
              <a:xfrm>
                <a:off x="0" y="-38100"/>
                <a:ext cx="1205743" cy="312452"/>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2372740" y="56308"/>
              <a:ext cx="1124209" cy="1124209"/>
            </a:xfrm>
            <a:custGeom>
              <a:avLst/>
              <a:gdLst/>
              <a:ahLst/>
              <a:cxnLst/>
              <a:rect r="r" b="b" t="t" l="l"/>
              <a:pathLst>
                <a:path h="1124209" w="1124209">
                  <a:moveTo>
                    <a:pt x="0" y="0"/>
                  </a:moveTo>
                  <a:lnTo>
                    <a:pt x="1124209" y="0"/>
                  </a:lnTo>
                  <a:lnTo>
                    <a:pt x="1124209" y="1124209"/>
                  </a:lnTo>
                  <a:lnTo>
                    <a:pt x="0" y="1124209"/>
                  </a:lnTo>
                  <a:lnTo>
                    <a:pt x="0" y="0"/>
                  </a:lnTo>
                  <a:close/>
                </a:path>
              </a:pathLst>
            </a:custGeom>
            <a:blipFill>
              <a:blip r:embed="rId9"/>
              <a:stretch>
                <a:fillRect l="0" t="0" r="0" b="0"/>
              </a:stretch>
            </a:blipFill>
          </p:spPr>
        </p:sp>
        <p:sp>
          <p:nvSpPr>
            <p:cNvPr name="Freeform 32" id="32"/>
            <p:cNvSpPr/>
            <p:nvPr/>
          </p:nvSpPr>
          <p:spPr>
            <a:xfrm flipH="false" flipV="false" rot="0">
              <a:off x="4644101" y="98484"/>
              <a:ext cx="938280" cy="1038569"/>
            </a:xfrm>
            <a:custGeom>
              <a:avLst/>
              <a:gdLst/>
              <a:ahLst/>
              <a:cxnLst/>
              <a:rect r="r" b="b" t="t" l="l"/>
              <a:pathLst>
                <a:path h="1038569" w="938280">
                  <a:moveTo>
                    <a:pt x="0" y="0"/>
                  </a:moveTo>
                  <a:lnTo>
                    <a:pt x="938280" y="0"/>
                  </a:lnTo>
                  <a:lnTo>
                    <a:pt x="938280" y="1038568"/>
                  </a:lnTo>
                  <a:lnTo>
                    <a:pt x="0" y="1038568"/>
                  </a:lnTo>
                  <a:lnTo>
                    <a:pt x="0" y="0"/>
                  </a:lnTo>
                  <a:close/>
                </a:path>
              </a:pathLst>
            </a:custGeom>
            <a:blipFill>
              <a:blip r:embed="rId10"/>
              <a:stretch>
                <a:fillRect l="0" t="0" r="0" b="0"/>
              </a:stretch>
            </a:blipFill>
          </p:spPr>
        </p:sp>
        <p:sp>
          <p:nvSpPr>
            <p:cNvPr name="Freeform 33" id="33"/>
            <p:cNvSpPr/>
            <p:nvPr/>
          </p:nvSpPr>
          <p:spPr>
            <a:xfrm flipH="false" flipV="false" rot="0">
              <a:off x="3496949" y="98484"/>
              <a:ext cx="1044322" cy="1039859"/>
            </a:xfrm>
            <a:custGeom>
              <a:avLst/>
              <a:gdLst/>
              <a:ahLst/>
              <a:cxnLst/>
              <a:rect r="r" b="b" t="t" l="l"/>
              <a:pathLst>
                <a:path h="1039859" w="1044322">
                  <a:moveTo>
                    <a:pt x="0" y="0"/>
                  </a:moveTo>
                  <a:lnTo>
                    <a:pt x="1044322" y="0"/>
                  </a:lnTo>
                  <a:lnTo>
                    <a:pt x="1044322" y="1039858"/>
                  </a:lnTo>
                  <a:lnTo>
                    <a:pt x="0" y="1039858"/>
                  </a:lnTo>
                  <a:lnTo>
                    <a:pt x="0" y="0"/>
                  </a:lnTo>
                  <a:close/>
                </a:path>
              </a:pathLst>
            </a:custGeom>
            <a:blipFill>
              <a:blip r:embed="rId11"/>
              <a:stretch>
                <a:fillRect l="0" t="0" r="0" b="0"/>
              </a:stretch>
            </a:blipFill>
          </p:spPr>
        </p:sp>
        <p:sp>
          <p:nvSpPr>
            <p:cNvPr name="Freeform 34" id="34"/>
            <p:cNvSpPr/>
            <p:nvPr/>
          </p:nvSpPr>
          <p:spPr>
            <a:xfrm flipH="false" flipV="false" rot="0">
              <a:off x="1496830" y="98484"/>
              <a:ext cx="1039859" cy="1039859"/>
            </a:xfrm>
            <a:custGeom>
              <a:avLst/>
              <a:gdLst/>
              <a:ahLst/>
              <a:cxnLst/>
              <a:rect r="r" b="b" t="t" l="l"/>
              <a:pathLst>
                <a:path h="1039859" w="1039859">
                  <a:moveTo>
                    <a:pt x="0" y="0"/>
                  </a:moveTo>
                  <a:lnTo>
                    <a:pt x="1039858" y="0"/>
                  </a:lnTo>
                  <a:lnTo>
                    <a:pt x="1039858" y="1039858"/>
                  </a:lnTo>
                  <a:lnTo>
                    <a:pt x="0" y="1039858"/>
                  </a:lnTo>
                  <a:lnTo>
                    <a:pt x="0" y="0"/>
                  </a:lnTo>
                  <a:close/>
                </a:path>
              </a:pathLst>
            </a:custGeom>
            <a:blipFill>
              <a:blip r:embed="rId12"/>
              <a:stretch>
                <a:fillRect l="0" t="0" r="0" b="0"/>
              </a:stretch>
            </a:blipFill>
          </p:spPr>
        </p:sp>
        <p:sp>
          <p:nvSpPr>
            <p:cNvPr name="Freeform 35" id="35"/>
            <p:cNvSpPr/>
            <p:nvPr/>
          </p:nvSpPr>
          <p:spPr>
            <a:xfrm flipH="false" flipV="false" rot="0">
              <a:off x="362098" y="122166"/>
              <a:ext cx="1033131" cy="1033131"/>
            </a:xfrm>
            <a:custGeom>
              <a:avLst/>
              <a:gdLst/>
              <a:ahLst/>
              <a:cxnLst/>
              <a:rect r="r" b="b" t="t" l="l"/>
              <a:pathLst>
                <a:path h="1033131" w="1033131">
                  <a:moveTo>
                    <a:pt x="0" y="0"/>
                  </a:moveTo>
                  <a:lnTo>
                    <a:pt x="1033132" y="0"/>
                  </a:lnTo>
                  <a:lnTo>
                    <a:pt x="1033132" y="1033132"/>
                  </a:lnTo>
                  <a:lnTo>
                    <a:pt x="0" y="1033132"/>
                  </a:lnTo>
                  <a:lnTo>
                    <a:pt x="0" y="0"/>
                  </a:lnTo>
                  <a:close/>
                </a:path>
              </a:pathLst>
            </a:custGeom>
            <a:blipFill>
              <a:blip r:embed="rId13"/>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33173"/>
        </a:solidFill>
      </p:bgPr>
    </p:bg>
    <p:spTree>
      <p:nvGrpSpPr>
        <p:cNvPr id="1" name=""/>
        <p:cNvGrpSpPr/>
        <p:nvPr/>
      </p:nvGrpSpPr>
      <p:grpSpPr>
        <a:xfrm>
          <a:off x="0" y="0"/>
          <a:ext cx="0" cy="0"/>
          <a:chOff x="0" y="0"/>
          <a:chExt cx="0" cy="0"/>
        </a:xfrm>
      </p:grpSpPr>
      <p:grpSp>
        <p:nvGrpSpPr>
          <p:cNvPr name="Group 2" id="2"/>
          <p:cNvGrpSpPr/>
          <p:nvPr/>
        </p:nvGrpSpPr>
        <p:grpSpPr>
          <a:xfrm rot="0">
            <a:off x="-316746" y="9258300"/>
            <a:ext cx="18921492" cy="1543050"/>
            <a:chOff x="0" y="0"/>
            <a:chExt cx="4983438" cy="406400"/>
          </a:xfrm>
        </p:grpSpPr>
        <p:sp>
          <p:nvSpPr>
            <p:cNvPr name="Freeform 3" id="3"/>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1C75FF"/>
            </a:solidFill>
          </p:spPr>
        </p:sp>
        <p:sp>
          <p:nvSpPr>
            <p:cNvPr name="TextBox 4" id="4"/>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15800" y="6357357"/>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0" y="6357357"/>
            <a:ext cx="6172200" cy="4114800"/>
          </a:xfrm>
          <a:custGeom>
            <a:avLst/>
            <a:gdLst/>
            <a:ahLst/>
            <a:cxnLst/>
            <a:rect r="r" b="b" t="t" l="l"/>
            <a:pathLst>
              <a:path h="4114800" w="6172200">
                <a:moveTo>
                  <a:pt x="6172200" y="0"/>
                </a:moveTo>
                <a:lnTo>
                  <a:pt x="0" y="0"/>
                </a:lnTo>
                <a:lnTo>
                  <a:pt x="0" y="4114800"/>
                </a:lnTo>
                <a:lnTo>
                  <a:pt x="6172200" y="4114800"/>
                </a:lnTo>
                <a:lnTo>
                  <a:pt x="6172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0" y="0"/>
            <a:ext cx="2279859" cy="2279859"/>
          </a:xfrm>
          <a:custGeom>
            <a:avLst/>
            <a:gdLst/>
            <a:ahLst/>
            <a:cxnLst/>
            <a:rect r="r" b="b" t="t" l="l"/>
            <a:pathLst>
              <a:path h="2279859" w="2279859">
                <a:moveTo>
                  <a:pt x="2279859" y="0"/>
                </a:moveTo>
                <a:lnTo>
                  <a:pt x="0" y="0"/>
                </a:lnTo>
                <a:lnTo>
                  <a:pt x="0" y="2279859"/>
                </a:lnTo>
                <a:lnTo>
                  <a:pt x="2279859" y="2279859"/>
                </a:lnTo>
                <a:lnTo>
                  <a:pt x="2279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583472" y="1567247"/>
            <a:ext cx="696388" cy="6963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008141" y="0"/>
            <a:ext cx="2279859" cy="2279859"/>
          </a:xfrm>
          <a:custGeom>
            <a:avLst/>
            <a:gdLst/>
            <a:ahLst/>
            <a:cxnLst/>
            <a:rect r="r" b="b" t="t" l="l"/>
            <a:pathLst>
              <a:path h="2279859" w="2279859">
                <a:moveTo>
                  <a:pt x="0" y="0"/>
                </a:moveTo>
                <a:lnTo>
                  <a:pt x="2279859" y="0"/>
                </a:lnTo>
                <a:lnTo>
                  <a:pt x="2279859" y="2279859"/>
                </a:lnTo>
                <a:lnTo>
                  <a:pt x="0" y="2279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6008141" y="1583472"/>
            <a:ext cx="696388" cy="6963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486837" y="47625"/>
            <a:ext cx="696388" cy="69638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3350" y="28575"/>
            <a:ext cx="696388" cy="6963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220621"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6533599"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23" id="23"/>
          <p:cNvGraphicFramePr>
            <a:graphicFrameLocks noGrp="true"/>
          </p:cNvGraphicFramePr>
          <p:nvPr/>
        </p:nvGraphicFramePr>
        <p:xfrm>
          <a:off x="2752505" y="2561997"/>
          <a:ext cx="12782990" cy="4324350"/>
        </p:xfrm>
        <a:graphic>
          <a:graphicData uri="http://schemas.openxmlformats.org/drawingml/2006/table">
            <a:tbl>
              <a:tblPr/>
              <a:tblGrid>
                <a:gridCol w="3574884"/>
                <a:gridCol w="2922939"/>
                <a:gridCol w="2718045"/>
                <a:gridCol w="3567122"/>
              </a:tblGrid>
              <a:tr h="864870">
                <a:tc>
                  <a:txBody>
                    <a:bodyPr anchor="t" rtlCol="false"/>
                    <a:lstStyle/>
                    <a:p>
                      <a:pPr algn="l">
                        <a:lnSpc>
                          <a:spcPts val="2939"/>
                        </a:lnSpc>
                        <a:defRPr/>
                      </a:pPr>
                      <a:r>
                        <a:rPr lang="en-US" sz="2099" b="true">
                          <a:solidFill>
                            <a:srgbClr val="000000"/>
                          </a:solidFill>
                          <a:latin typeface="Century Gothic Paneuropean Bold"/>
                          <a:ea typeface="Century Gothic Paneuropean Bold"/>
                          <a:cs typeface="Century Gothic Paneuropean Bold"/>
                          <a:sym typeface="Century Gothic Paneuropean Bold"/>
                        </a:rPr>
                        <a:t>Parameter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2AEC4"/>
                    </a:solidFill>
                  </a:tcPr>
                </a:tc>
                <a:tc>
                  <a:txBody>
                    <a:bodyPr anchor="t" rtlCol="false"/>
                    <a:lstStyle/>
                    <a:p>
                      <a:pPr algn="l">
                        <a:lnSpc>
                          <a:spcPts val="2939"/>
                        </a:lnSpc>
                        <a:defRPr/>
                      </a:pPr>
                      <a:r>
                        <a:rPr lang="en-US" sz="2099" b="true">
                          <a:solidFill>
                            <a:srgbClr val="000000"/>
                          </a:solidFill>
                          <a:latin typeface="Century Gothic Paneuropean Bold"/>
                          <a:ea typeface="Century Gothic Paneuropean Bold"/>
                          <a:cs typeface="Century Gothic Paneuropean Bold"/>
                          <a:sym typeface="Century Gothic Paneuropean Bold"/>
                        </a:rPr>
                        <a:t>Nilai Awal (0)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2AEC4"/>
                    </a:solidFill>
                  </a:tcPr>
                </a:tc>
                <a:tc>
                  <a:txBody>
                    <a:bodyPr anchor="t" rtlCol="false"/>
                    <a:lstStyle/>
                    <a:p>
                      <a:pPr algn="l">
                        <a:lnSpc>
                          <a:spcPts val="2939"/>
                        </a:lnSpc>
                        <a:defRPr/>
                      </a:pPr>
                      <a:r>
                        <a:rPr lang="en-US" sz="2099" b="true">
                          <a:solidFill>
                            <a:srgbClr val="000000"/>
                          </a:solidFill>
                          <a:latin typeface="Century Gothic Paneuropean Bold"/>
                          <a:ea typeface="Century Gothic Paneuropean Bold"/>
                          <a:cs typeface="Century Gothic Paneuropean Bold"/>
                          <a:sym typeface="Century Gothic Paneuropean Bold"/>
                        </a:rPr>
                        <a:t>Bias Jackknife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2AEC4"/>
                    </a:solidFill>
                  </a:tcPr>
                </a:tc>
                <a:tc>
                  <a:txBody>
                    <a:bodyPr anchor="t" rtlCol="false"/>
                    <a:lstStyle/>
                    <a:p>
                      <a:pPr algn="l">
                        <a:lnSpc>
                          <a:spcPts val="2939"/>
                        </a:lnSpc>
                        <a:defRPr/>
                      </a:pPr>
                      <a:r>
                        <a:rPr lang="en-US" sz="2099" b="true">
                          <a:solidFill>
                            <a:srgbClr val="000000"/>
                          </a:solidFill>
                          <a:latin typeface="Century Gothic Paneuropean Bold"/>
                          <a:ea typeface="Century Gothic Paneuropean Bold"/>
                          <a:cs typeface="Century Gothic Paneuropean Bold"/>
                          <a:sym typeface="Century Gothic Paneuropean Bold"/>
                        </a:rPr>
                        <a:t>Status Kestabilan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2AEC4"/>
                    </a:solidFill>
                  </a:tcPr>
                </a:tc>
              </a:tr>
              <a:tr h="864870">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Rata-rata UKT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Rp 2.457.692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Sangat Stabil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64870">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Rataan Golongan UKT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3.66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Sangat Stabil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64870">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Proporsi Beasiswa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0.40 (40%)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Sangat Stabil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64870">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Proporsi Asal Daerah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0.74 (74%)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939"/>
                        </a:lnSpc>
                        <a:defRPr/>
                      </a:pPr>
                      <a:r>
                        <a:rPr lang="en-US" sz="2099" b="true">
                          <a:solidFill>
                            <a:srgbClr val="FFFFFF"/>
                          </a:solidFill>
                          <a:latin typeface="Century Gothic Paneuropean Bold"/>
                          <a:ea typeface="Century Gothic Paneuropean Bold"/>
                          <a:cs typeface="Century Gothic Paneuropean Bold"/>
                          <a:sym typeface="Century Gothic Paneuropean Bold"/>
                        </a:rPr>
                        <a:t>Sangat Stabil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24" id="24"/>
          <p:cNvSpPr txBox="true"/>
          <p:nvPr/>
        </p:nvSpPr>
        <p:spPr>
          <a:xfrm rot="0">
            <a:off x="2752505" y="6981597"/>
            <a:ext cx="12782990" cy="1243965"/>
          </a:xfrm>
          <a:prstGeom prst="rect">
            <a:avLst/>
          </a:prstGeom>
        </p:spPr>
        <p:txBody>
          <a:bodyPr anchor="t" rtlCol="false" tIns="0" lIns="0" bIns="0" rIns="0">
            <a:spAutoFit/>
          </a:bodyPr>
          <a:lstStyle/>
          <a:p>
            <a:pPr algn="just">
              <a:lnSpc>
                <a:spcPts val="3360"/>
              </a:lnSpc>
            </a:pPr>
            <a:r>
              <a:rPr lang="en-US" sz="2400" i="true">
                <a:solidFill>
                  <a:srgbClr val="FFFFFF"/>
                </a:solidFill>
                <a:latin typeface="Century Gothic Paneuropean Italics"/>
                <a:ea typeface="Century Gothic Paneuropean Italics"/>
                <a:cs typeface="Century Gothic Paneuropean Italics"/>
                <a:sym typeface="Century Gothic Paneuropean Italics"/>
              </a:rPr>
              <a:t>Hasil Jackknife menunjukkan bahwa seluruh parameter (Rata-rata UKT, Rataan Golongan, Proporsi Beasiswa, dan Asal Daerah) memiliki nilai bias yang mendekati nol, menunjukkan bahwa estimasi statistik yang diperoleh adalah sangat stabil</a:t>
            </a:r>
          </a:p>
        </p:txBody>
      </p:sp>
      <p:sp>
        <p:nvSpPr>
          <p:cNvPr name="TextBox 25" id="25"/>
          <p:cNvSpPr txBox="true"/>
          <p:nvPr/>
        </p:nvSpPr>
        <p:spPr>
          <a:xfrm rot="0">
            <a:off x="2519812" y="1781269"/>
            <a:ext cx="13248377" cy="640081"/>
          </a:xfrm>
          <a:prstGeom prst="rect">
            <a:avLst/>
          </a:prstGeom>
        </p:spPr>
        <p:txBody>
          <a:bodyPr anchor="t" rtlCol="false" tIns="0" lIns="0" bIns="0" rIns="0">
            <a:spAutoFit/>
          </a:bodyPr>
          <a:lstStyle/>
          <a:p>
            <a:pPr algn="ctr">
              <a:lnSpc>
                <a:spcPts val="4860"/>
              </a:lnSpc>
            </a:pPr>
            <a:r>
              <a:rPr lang="en-US" b="true" sz="4500">
                <a:solidFill>
                  <a:srgbClr val="FFFFFF"/>
                </a:solidFill>
                <a:latin typeface="Croogla Bold"/>
                <a:ea typeface="Croogla Bold"/>
                <a:cs typeface="Croogla Bold"/>
                <a:sym typeface="Croogla Bold"/>
              </a:rPr>
              <a:t>UJI KESTABILAN PARAMETER: HASIL JACKKNIFE</a:t>
            </a:r>
          </a:p>
        </p:txBody>
      </p:sp>
      <p:grpSp>
        <p:nvGrpSpPr>
          <p:cNvPr name="Group 26" id="26"/>
          <p:cNvGrpSpPr/>
          <p:nvPr/>
        </p:nvGrpSpPr>
        <p:grpSpPr>
          <a:xfrm rot="0">
            <a:off x="6854973" y="507860"/>
            <a:ext cx="4578054" cy="1041680"/>
            <a:chOff x="0" y="0"/>
            <a:chExt cx="6104073" cy="1388906"/>
          </a:xfrm>
        </p:grpSpPr>
        <p:grpSp>
          <p:nvGrpSpPr>
            <p:cNvPr name="Group 27" id="27"/>
            <p:cNvGrpSpPr/>
            <p:nvPr/>
          </p:nvGrpSpPr>
          <p:grpSpPr>
            <a:xfrm rot="0">
              <a:off x="0" y="0"/>
              <a:ext cx="6104073" cy="1388906"/>
              <a:chOff x="0" y="0"/>
              <a:chExt cx="1205743" cy="274352"/>
            </a:xfrm>
          </p:grpSpPr>
          <p:sp>
            <p:nvSpPr>
              <p:cNvPr name="Freeform 28" id="28"/>
              <p:cNvSpPr/>
              <p:nvPr/>
            </p:nvSpPr>
            <p:spPr>
              <a:xfrm flipH="false" flipV="false" rot="0">
                <a:off x="0" y="0"/>
                <a:ext cx="1205743" cy="274352"/>
              </a:xfrm>
              <a:custGeom>
                <a:avLst/>
                <a:gdLst/>
                <a:ahLst/>
                <a:cxnLst/>
                <a:rect r="r" b="b" t="t" l="l"/>
                <a:pathLst>
                  <a:path h="274352" w="1205743">
                    <a:moveTo>
                      <a:pt x="86246" y="0"/>
                    </a:moveTo>
                    <a:lnTo>
                      <a:pt x="1119497" y="0"/>
                    </a:lnTo>
                    <a:cubicBezTo>
                      <a:pt x="1142371" y="0"/>
                      <a:pt x="1164308" y="9087"/>
                      <a:pt x="1180482" y="25261"/>
                    </a:cubicBezTo>
                    <a:cubicBezTo>
                      <a:pt x="1196656" y="41435"/>
                      <a:pt x="1205743" y="63372"/>
                      <a:pt x="1205743" y="86246"/>
                    </a:cubicBezTo>
                    <a:lnTo>
                      <a:pt x="1205743" y="188106"/>
                    </a:lnTo>
                    <a:cubicBezTo>
                      <a:pt x="1205743" y="210980"/>
                      <a:pt x="1196656" y="232917"/>
                      <a:pt x="1180482" y="249091"/>
                    </a:cubicBezTo>
                    <a:cubicBezTo>
                      <a:pt x="1164308" y="265265"/>
                      <a:pt x="1142371" y="274352"/>
                      <a:pt x="1119497" y="274352"/>
                    </a:cubicBezTo>
                    <a:lnTo>
                      <a:pt x="86246" y="274352"/>
                    </a:lnTo>
                    <a:cubicBezTo>
                      <a:pt x="63372" y="274352"/>
                      <a:pt x="41435" y="265265"/>
                      <a:pt x="25261" y="249091"/>
                    </a:cubicBezTo>
                    <a:cubicBezTo>
                      <a:pt x="9087" y="232917"/>
                      <a:pt x="0" y="210980"/>
                      <a:pt x="0" y="188106"/>
                    </a:cubicBezTo>
                    <a:lnTo>
                      <a:pt x="0" y="86246"/>
                    </a:lnTo>
                    <a:cubicBezTo>
                      <a:pt x="0" y="63372"/>
                      <a:pt x="9087" y="41435"/>
                      <a:pt x="25261" y="25261"/>
                    </a:cubicBezTo>
                    <a:cubicBezTo>
                      <a:pt x="41435" y="9087"/>
                      <a:pt x="63372" y="0"/>
                      <a:pt x="86246" y="0"/>
                    </a:cubicBezTo>
                    <a:close/>
                  </a:path>
                </a:pathLst>
              </a:custGeom>
              <a:solidFill>
                <a:srgbClr val="FFFFFF"/>
              </a:solidFill>
            </p:spPr>
          </p:sp>
          <p:sp>
            <p:nvSpPr>
              <p:cNvPr name="TextBox 29" id="29"/>
              <p:cNvSpPr txBox="true"/>
              <p:nvPr/>
            </p:nvSpPr>
            <p:spPr>
              <a:xfrm>
                <a:off x="0" y="-38100"/>
                <a:ext cx="1205743" cy="312452"/>
              </a:xfrm>
              <a:prstGeom prst="rect">
                <a:avLst/>
              </a:prstGeom>
            </p:spPr>
            <p:txBody>
              <a:bodyPr anchor="ctr" rtlCol="false" tIns="50800" lIns="50800" bIns="50800" rIns="50800"/>
              <a:lstStyle/>
              <a:p>
                <a:pPr algn="ctr">
                  <a:lnSpc>
                    <a:spcPts val="2659"/>
                  </a:lnSpc>
                </a:pPr>
              </a:p>
            </p:txBody>
          </p:sp>
        </p:grpSp>
        <p:sp>
          <p:nvSpPr>
            <p:cNvPr name="Freeform 30" id="30"/>
            <p:cNvSpPr/>
            <p:nvPr/>
          </p:nvSpPr>
          <p:spPr>
            <a:xfrm flipH="false" flipV="false" rot="0">
              <a:off x="2372740" y="56308"/>
              <a:ext cx="1124209" cy="1124209"/>
            </a:xfrm>
            <a:custGeom>
              <a:avLst/>
              <a:gdLst/>
              <a:ahLst/>
              <a:cxnLst/>
              <a:rect r="r" b="b" t="t" l="l"/>
              <a:pathLst>
                <a:path h="1124209" w="1124209">
                  <a:moveTo>
                    <a:pt x="0" y="0"/>
                  </a:moveTo>
                  <a:lnTo>
                    <a:pt x="1124209" y="0"/>
                  </a:lnTo>
                  <a:lnTo>
                    <a:pt x="1124209" y="1124209"/>
                  </a:lnTo>
                  <a:lnTo>
                    <a:pt x="0" y="1124209"/>
                  </a:lnTo>
                  <a:lnTo>
                    <a:pt x="0" y="0"/>
                  </a:lnTo>
                  <a:close/>
                </a:path>
              </a:pathLst>
            </a:custGeom>
            <a:blipFill>
              <a:blip r:embed="rId8"/>
              <a:stretch>
                <a:fillRect l="0" t="0" r="0" b="0"/>
              </a:stretch>
            </a:blipFill>
          </p:spPr>
        </p:sp>
        <p:sp>
          <p:nvSpPr>
            <p:cNvPr name="Freeform 31" id="31"/>
            <p:cNvSpPr/>
            <p:nvPr/>
          </p:nvSpPr>
          <p:spPr>
            <a:xfrm flipH="false" flipV="false" rot="0">
              <a:off x="4644101" y="98484"/>
              <a:ext cx="938280" cy="1038569"/>
            </a:xfrm>
            <a:custGeom>
              <a:avLst/>
              <a:gdLst/>
              <a:ahLst/>
              <a:cxnLst/>
              <a:rect r="r" b="b" t="t" l="l"/>
              <a:pathLst>
                <a:path h="1038569" w="938280">
                  <a:moveTo>
                    <a:pt x="0" y="0"/>
                  </a:moveTo>
                  <a:lnTo>
                    <a:pt x="938280" y="0"/>
                  </a:lnTo>
                  <a:lnTo>
                    <a:pt x="938280" y="1038568"/>
                  </a:lnTo>
                  <a:lnTo>
                    <a:pt x="0" y="1038568"/>
                  </a:lnTo>
                  <a:lnTo>
                    <a:pt x="0" y="0"/>
                  </a:lnTo>
                  <a:close/>
                </a:path>
              </a:pathLst>
            </a:custGeom>
            <a:blipFill>
              <a:blip r:embed="rId9"/>
              <a:stretch>
                <a:fillRect l="0" t="0" r="0" b="0"/>
              </a:stretch>
            </a:blipFill>
          </p:spPr>
        </p:sp>
        <p:sp>
          <p:nvSpPr>
            <p:cNvPr name="Freeform 32" id="32"/>
            <p:cNvSpPr/>
            <p:nvPr/>
          </p:nvSpPr>
          <p:spPr>
            <a:xfrm flipH="false" flipV="false" rot="0">
              <a:off x="3496949" y="98484"/>
              <a:ext cx="1044322" cy="1039859"/>
            </a:xfrm>
            <a:custGeom>
              <a:avLst/>
              <a:gdLst/>
              <a:ahLst/>
              <a:cxnLst/>
              <a:rect r="r" b="b" t="t" l="l"/>
              <a:pathLst>
                <a:path h="1039859" w="1044322">
                  <a:moveTo>
                    <a:pt x="0" y="0"/>
                  </a:moveTo>
                  <a:lnTo>
                    <a:pt x="1044322" y="0"/>
                  </a:lnTo>
                  <a:lnTo>
                    <a:pt x="1044322" y="1039858"/>
                  </a:lnTo>
                  <a:lnTo>
                    <a:pt x="0" y="1039858"/>
                  </a:lnTo>
                  <a:lnTo>
                    <a:pt x="0" y="0"/>
                  </a:lnTo>
                  <a:close/>
                </a:path>
              </a:pathLst>
            </a:custGeom>
            <a:blipFill>
              <a:blip r:embed="rId10"/>
              <a:stretch>
                <a:fillRect l="0" t="0" r="0" b="0"/>
              </a:stretch>
            </a:blipFill>
          </p:spPr>
        </p:sp>
        <p:sp>
          <p:nvSpPr>
            <p:cNvPr name="Freeform 33" id="33"/>
            <p:cNvSpPr/>
            <p:nvPr/>
          </p:nvSpPr>
          <p:spPr>
            <a:xfrm flipH="false" flipV="false" rot="0">
              <a:off x="1496830" y="98484"/>
              <a:ext cx="1039859" cy="1039859"/>
            </a:xfrm>
            <a:custGeom>
              <a:avLst/>
              <a:gdLst/>
              <a:ahLst/>
              <a:cxnLst/>
              <a:rect r="r" b="b" t="t" l="l"/>
              <a:pathLst>
                <a:path h="1039859" w="1039859">
                  <a:moveTo>
                    <a:pt x="0" y="0"/>
                  </a:moveTo>
                  <a:lnTo>
                    <a:pt x="1039858" y="0"/>
                  </a:lnTo>
                  <a:lnTo>
                    <a:pt x="1039858" y="1039858"/>
                  </a:lnTo>
                  <a:lnTo>
                    <a:pt x="0" y="1039858"/>
                  </a:lnTo>
                  <a:lnTo>
                    <a:pt x="0" y="0"/>
                  </a:lnTo>
                  <a:close/>
                </a:path>
              </a:pathLst>
            </a:custGeom>
            <a:blipFill>
              <a:blip r:embed="rId11"/>
              <a:stretch>
                <a:fillRect l="0" t="0" r="0" b="0"/>
              </a:stretch>
            </a:blipFill>
          </p:spPr>
        </p:sp>
        <p:sp>
          <p:nvSpPr>
            <p:cNvPr name="Freeform 34" id="34"/>
            <p:cNvSpPr/>
            <p:nvPr/>
          </p:nvSpPr>
          <p:spPr>
            <a:xfrm flipH="false" flipV="false" rot="0">
              <a:off x="362098" y="122166"/>
              <a:ext cx="1033131" cy="1033131"/>
            </a:xfrm>
            <a:custGeom>
              <a:avLst/>
              <a:gdLst/>
              <a:ahLst/>
              <a:cxnLst/>
              <a:rect r="r" b="b" t="t" l="l"/>
              <a:pathLst>
                <a:path h="1033131" w="1033131">
                  <a:moveTo>
                    <a:pt x="0" y="0"/>
                  </a:moveTo>
                  <a:lnTo>
                    <a:pt x="1033132" y="0"/>
                  </a:lnTo>
                  <a:lnTo>
                    <a:pt x="1033132" y="1033132"/>
                  </a:lnTo>
                  <a:lnTo>
                    <a:pt x="0" y="1033132"/>
                  </a:lnTo>
                  <a:lnTo>
                    <a:pt x="0" y="0"/>
                  </a:lnTo>
                  <a:close/>
                </a:path>
              </a:pathLst>
            </a:custGeom>
            <a:blipFill>
              <a:blip r:embed="rId12"/>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9EA"/>
        </a:solidFill>
      </p:bgPr>
    </p:bg>
    <p:spTree>
      <p:nvGrpSpPr>
        <p:cNvPr id="1" name=""/>
        <p:cNvGrpSpPr/>
        <p:nvPr/>
      </p:nvGrpSpPr>
      <p:grpSpPr>
        <a:xfrm>
          <a:off x="0" y="0"/>
          <a:ext cx="0" cy="0"/>
          <a:chOff x="0" y="0"/>
          <a:chExt cx="0" cy="0"/>
        </a:xfrm>
      </p:grpSpPr>
      <p:grpSp>
        <p:nvGrpSpPr>
          <p:cNvPr name="Group 2" id="2"/>
          <p:cNvGrpSpPr/>
          <p:nvPr/>
        </p:nvGrpSpPr>
        <p:grpSpPr>
          <a:xfrm rot="0">
            <a:off x="-316746" y="9258300"/>
            <a:ext cx="18921492" cy="1543050"/>
            <a:chOff x="0" y="0"/>
            <a:chExt cx="4983438" cy="406400"/>
          </a:xfrm>
        </p:grpSpPr>
        <p:sp>
          <p:nvSpPr>
            <p:cNvPr name="Freeform 3" id="3"/>
            <p:cNvSpPr/>
            <p:nvPr/>
          </p:nvSpPr>
          <p:spPr>
            <a:xfrm flipH="false" flipV="false" rot="0">
              <a:off x="0" y="0"/>
              <a:ext cx="4983438" cy="406400"/>
            </a:xfrm>
            <a:custGeom>
              <a:avLst/>
              <a:gdLst/>
              <a:ahLst/>
              <a:cxnLst/>
              <a:rect r="r" b="b" t="t" l="l"/>
              <a:pathLst>
                <a:path h="406400" w="4983438">
                  <a:moveTo>
                    <a:pt x="0" y="0"/>
                  </a:moveTo>
                  <a:lnTo>
                    <a:pt x="4983438" y="0"/>
                  </a:lnTo>
                  <a:lnTo>
                    <a:pt x="4983438" y="406400"/>
                  </a:lnTo>
                  <a:lnTo>
                    <a:pt x="0" y="406400"/>
                  </a:lnTo>
                  <a:close/>
                </a:path>
              </a:pathLst>
            </a:custGeom>
            <a:solidFill>
              <a:srgbClr val="FEBF25"/>
            </a:solidFill>
          </p:spPr>
        </p:sp>
        <p:sp>
          <p:nvSpPr>
            <p:cNvPr name="TextBox 4" id="4"/>
            <p:cNvSpPr txBox="true"/>
            <p:nvPr/>
          </p:nvSpPr>
          <p:spPr>
            <a:xfrm>
              <a:off x="0" y="-38100"/>
              <a:ext cx="4983438" cy="444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15800" y="6172200"/>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0" y="6172200"/>
            <a:ext cx="6172200" cy="4114800"/>
          </a:xfrm>
          <a:custGeom>
            <a:avLst/>
            <a:gdLst/>
            <a:ahLst/>
            <a:cxnLst/>
            <a:rect r="r" b="b" t="t" l="l"/>
            <a:pathLst>
              <a:path h="4114800" w="6172200">
                <a:moveTo>
                  <a:pt x="6172200" y="0"/>
                </a:moveTo>
                <a:lnTo>
                  <a:pt x="0" y="0"/>
                </a:lnTo>
                <a:lnTo>
                  <a:pt x="0" y="4114800"/>
                </a:lnTo>
                <a:lnTo>
                  <a:pt x="6172200" y="4114800"/>
                </a:lnTo>
                <a:lnTo>
                  <a:pt x="6172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0" y="0"/>
            <a:ext cx="2279859" cy="2279859"/>
          </a:xfrm>
          <a:custGeom>
            <a:avLst/>
            <a:gdLst/>
            <a:ahLst/>
            <a:cxnLst/>
            <a:rect r="r" b="b" t="t" l="l"/>
            <a:pathLst>
              <a:path h="2279859" w="2279859">
                <a:moveTo>
                  <a:pt x="2279859" y="0"/>
                </a:moveTo>
                <a:lnTo>
                  <a:pt x="0" y="0"/>
                </a:lnTo>
                <a:lnTo>
                  <a:pt x="0" y="2279859"/>
                </a:lnTo>
                <a:lnTo>
                  <a:pt x="2279859" y="2279859"/>
                </a:lnTo>
                <a:lnTo>
                  <a:pt x="22798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583472" y="1567247"/>
            <a:ext cx="696388" cy="6963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008141" y="0"/>
            <a:ext cx="2279859" cy="2279859"/>
          </a:xfrm>
          <a:custGeom>
            <a:avLst/>
            <a:gdLst/>
            <a:ahLst/>
            <a:cxnLst/>
            <a:rect r="r" b="b" t="t" l="l"/>
            <a:pathLst>
              <a:path h="2279859" w="2279859">
                <a:moveTo>
                  <a:pt x="0" y="0"/>
                </a:moveTo>
                <a:lnTo>
                  <a:pt x="2279859" y="0"/>
                </a:lnTo>
                <a:lnTo>
                  <a:pt x="2279859" y="2279859"/>
                </a:lnTo>
                <a:lnTo>
                  <a:pt x="0" y="2279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6008141" y="1583472"/>
            <a:ext cx="696388" cy="6963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486837" y="47625"/>
            <a:ext cx="696388" cy="69638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3350" y="28575"/>
            <a:ext cx="696388" cy="6963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75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220621"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6533599" y="3461757"/>
            <a:ext cx="725701" cy="2057400"/>
          </a:xfrm>
          <a:custGeom>
            <a:avLst/>
            <a:gdLst/>
            <a:ahLst/>
            <a:cxnLst/>
            <a:rect r="r" b="b" t="t" l="l"/>
            <a:pathLst>
              <a:path h="2057400" w="725701">
                <a:moveTo>
                  <a:pt x="0" y="0"/>
                </a:moveTo>
                <a:lnTo>
                  <a:pt x="725701" y="0"/>
                </a:lnTo>
                <a:lnTo>
                  <a:pt x="725701"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723927" y="2678004"/>
            <a:ext cx="12840146" cy="5547360"/>
          </a:xfrm>
          <a:prstGeom prst="rect">
            <a:avLst/>
          </a:prstGeom>
        </p:spPr>
        <p:txBody>
          <a:bodyPr anchor="t" rtlCol="false" tIns="0" lIns="0" bIns="0" rIns="0">
            <a:spAutoFit/>
          </a:bodyPr>
          <a:lstStyle/>
          <a:p>
            <a:pPr algn="just">
              <a:lnSpc>
                <a:spcPts val="4059"/>
              </a:lnSpc>
            </a:pPr>
            <a:r>
              <a:rPr lang="en-US" sz="2899" b="true">
                <a:solidFill>
                  <a:srgbClr val="233173"/>
                </a:solidFill>
                <a:latin typeface="Century Gothic Paneuropean Bold"/>
                <a:ea typeface="Century Gothic Paneuropean Bold"/>
                <a:cs typeface="Century Gothic Paneuropean Bold"/>
                <a:sym typeface="Century Gothic Paneuropean Bold"/>
              </a:rPr>
              <a:t>Kesimpulan</a:t>
            </a:r>
          </a:p>
          <a:p>
            <a:pPr algn="just">
              <a:lnSpc>
                <a:spcPts val="3360"/>
              </a:lnSpc>
            </a:pPr>
            <a:r>
              <a:rPr lang="en-US" sz="2400" b="true">
                <a:solidFill>
                  <a:srgbClr val="233173"/>
                </a:solidFill>
                <a:latin typeface="Century Gothic Paneuropean Bold"/>
                <a:ea typeface="Century Gothic Paneuropean Bold"/>
                <a:cs typeface="Century Gothic Paneuropean Bold"/>
                <a:sym typeface="Century Gothic Paneuropean Bold"/>
              </a:rPr>
              <a:t>Profil mahasiswa asrama didominasi oleh asal luar daerah (perantau) dengan UKT mayoritas berada pada Golongan 3. Analisis Jackknife mengonfirmasi bahwa seluruh parameter yang diuji memiliki nilai bias mendekati nol, menunjukkan estimasi statistik yang sangat stabil.</a:t>
            </a:r>
          </a:p>
          <a:p>
            <a:pPr algn="just">
              <a:lnSpc>
                <a:spcPts val="2100"/>
              </a:lnSpc>
            </a:pPr>
          </a:p>
          <a:p>
            <a:pPr algn="just">
              <a:lnSpc>
                <a:spcPts val="4059"/>
              </a:lnSpc>
            </a:pPr>
            <a:r>
              <a:rPr lang="en-US" sz="2899" b="true">
                <a:solidFill>
                  <a:srgbClr val="233173"/>
                </a:solidFill>
                <a:latin typeface="Century Gothic Paneuropean Bold"/>
                <a:ea typeface="Century Gothic Paneuropean Bold"/>
                <a:cs typeface="Century Gothic Paneuropean Bold"/>
                <a:sym typeface="Century Gothic Paneuropean Bold"/>
              </a:rPr>
              <a:t>Saran</a:t>
            </a:r>
          </a:p>
          <a:p>
            <a:pPr algn="just" marL="518162" indent="-259081" lvl="1">
              <a:lnSpc>
                <a:spcPts val="3360"/>
              </a:lnSpc>
              <a:buFont typeface="Arial"/>
              <a:buChar char="•"/>
            </a:pPr>
            <a:r>
              <a:rPr lang="en-US" b="true" sz="2400">
                <a:solidFill>
                  <a:srgbClr val="233173"/>
                </a:solidFill>
                <a:latin typeface="Century Gothic Paneuropean Bold"/>
                <a:ea typeface="Century Gothic Paneuropean Bold"/>
                <a:cs typeface="Century Gothic Paneuropean Bold"/>
                <a:sym typeface="Century Gothic Paneuropean Bold"/>
              </a:rPr>
              <a:t>Kebijakan &amp; Program: Institusi disarankan menyesuaikan kebijakan UKT/beasiswa yang lebih tepat sasaran dan mengembangkan program adaptasi khusus bagi mahasiswa asal luar daerah.</a:t>
            </a:r>
          </a:p>
          <a:p>
            <a:pPr algn="just" marL="518162" indent="-259081" lvl="1">
              <a:lnSpc>
                <a:spcPts val="3360"/>
              </a:lnSpc>
              <a:buFont typeface="Arial"/>
              <a:buChar char="•"/>
            </a:pPr>
            <a:r>
              <a:rPr lang="en-US" b="true" sz="2400">
                <a:solidFill>
                  <a:srgbClr val="233173"/>
                </a:solidFill>
                <a:latin typeface="Century Gothic Paneuropean Bold"/>
                <a:ea typeface="Century Gothic Paneuropean Bold"/>
                <a:cs typeface="Century Gothic Paneuropean Bold"/>
                <a:sym typeface="Century Gothic Paneuropean Bold"/>
              </a:rPr>
              <a:t>Riset Lanjutan: Mendorong penerapan Jackknife Resampling pada data multivariat serta perluasan cakupan variabel sosio-ekonomi dalam analisis mendatang.</a:t>
            </a:r>
          </a:p>
          <a:p>
            <a:pPr algn="just">
              <a:lnSpc>
                <a:spcPts val="3919"/>
              </a:lnSpc>
            </a:pPr>
          </a:p>
        </p:txBody>
      </p:sp>
      <p:sp>
        <p:nvSpPr>
          <p:cNvPr name="TextBox 24" id="24"/>
          <p:cNvSpPr txBox="true"/>
          <p:nvPr/>
        </p:nvSpPr>
        <p:spPr>
          <a:xfrm rot="0">
            <a:off x="2556294" y="1872190"/>
            <a:ext cx="13175413" cy="862965"/>
          </a:xfrm>
          <a:prstGeom prst="rect">
            <a:avLst/>
          </a:prstGeom>
        </p:spPr>
        <p:txBody>
          <a:bodyPr anchor="t" rtlCol="false" tIns="0" lIns="0" bIns="0" rIns="0">
            <a:spAutoFit/>
          </a:bodyPr>
          <a:lstStyle/>
          <a:p>
            <a:pPr algn="ctr">
              <a:lnSpc>
                <a:spcPts val="6479"/>
              </a:lnSpc>
            </a:pPr>
            <a:r>
              <a:rPr lang="en-US" b="true" sz="5999">
                <a:solidFill>
                  <a:srgbClr val="233173"/>
                </a:solidFill>
                <a:latin typeface="Croogla Bold"/>
                <a:ea typeface="Croogla Bold"/>
                <a:cs typeface="Croogla Bold"/>
                <a:sym typeface="Croogla Bold"/>
              </a:rPr>
              <a:t>KESIMPULAN &amp; SARAN</a:t>
            </a:r>
          </a:p>
        </p:txBody>
      </p:sp>
      <p:sp>
        <p:nvSpPr>
          <p:cNvPr name="TextBox 25" id="25"/>
          <p:cNvSpPr txBox="true"/>
          <p:nvPr/>
        </p:nvSpPr>
        <p:spPr>
          <a:xfrm rot="0">
            <a:off x="7120103" y="8168214"/>
            <a:ext cx="4047793" cy="587376"/>
          </a:xfrm>
          <a:prstGeom prst="rect">
            <a:avLst/>
          </a:prstGeom>
        </p:spPr>
        <p:txBody>
          <a:bodyPr anchor="t" rtlCol="false" tIns="0" lIns="0" bIns="0" rIns="0">
            <a:spAutoFit/>
          </a:bodyPr>
          <a:lstStyle/>
          <a:p>
            <a:pPr algn="just">
              <a:lnSpc>
                <a:spcPts val="4899"/>
              </a:lnSpc>
            </a:pPr>
            <a:r>
              <a:rPr lang="en-US" b="true" sz="3499">
                <a:solidFill>
                  <a:srgbClr val="233173"/>
                </a:solidFill>
                <a:latin typeface="Century Gothic Paneuropean Bold"/>
                <a:ea typeface="Century Gothic Paneuropean Bold"/>
                <a:cs typeface="Century Gothic Paneuropean Bold"/>
                <a:sym typeface="Century Gothic Paneuropean Bold"/>
              </a:rPr>
              <a:t>~~ Terima Kasih ~~</a:t>
            </a:r>
          </a:p>
        </p:txBody>
      </p:sp>
      <p:grpSp>
        <p:nvGrpSpPr>
          <p:cNvPr name="Group 26" id="26"/>
          <p:cNvGrpSpPr/>
          <p:nvPr/>
        </p:nvGrpSpPr>
        <p:grpSpPr>
          <a:xfrm rot="0">
            <a:off x="6854973" y="507860"/>
            <a:ext cx="4578054" cy="1041680"/>
            <a:chOff x="0" y="0"/>
            <a:chExt cx="6104073" cy="1388906"/>
          </a:xfrm>
        </p:grpSpPr>
        <p:grpSp>
          <p:nvGrpSpPr>
            <p:cNvPr name="Group 27" id="27"/>
            <p:cNvGrpSpPr/>
            <p:nvPr/>
          </p:nvGrpSpPr>
          <p:grpSpPr>
            <a:xfrm rot="0">
              <a:off x="0" y="0"/>
              <a:ext cx="6104073" cy="1388906"/>
              <a:chOff x="0" y="0"/>
              <a:chExt cx="1205743" cy="274352"/>
            </a:xfrm>
          </p:grpSpPr>
          <p:sp>
            <p:nvSpPr>
              <p:cNvPr name="Freeform 28" id="28"/>
              <p:cNvSpPr/>
              <p:nvPr/>
            </p:nvSpPr>
            <p:spPr>
              <a:xfrm flipH="false" flipV="false" rot="0">
                <a:off x="0" y="0"/>
                <a:ext cx="1205743" cy="274352"/>
              </a:xfrm>
              <a:custGeom>
                <a:avLst/>
                <a:gdLst/>
                <a:ahLst/>
                <a:cxnLst/>
                <a:rect r="r" b="b" t="t" l="l"/>
                <a:pathLst>
                  <a:path h="274352" w="1205743">
                    <a:moveTo>
                      <a:pt x="86246" y="0"/>
                    </a:moveTo>
                    <a:lnTo>
                      <a:pt x="1119497" y="0"/>
                    </a:lnTo>
                    <a:cubicBezTo>
                      <a:pt x="1142371" y="0"/>
                      <a:pt x="1164308" y="9087"/>
                      <a:pt x="1180482" y="25261"/>
                    </a:cubicBezTo>
                    <a:cubicBezTo>
                      <a:pt x="1196656" y="41435"/>
                      <a:pt x="1205743" y="63372"/>
                      <a:pt x="1205743" y="86246"/>
                    </a:cubicBezTo>
                    <a:lnTo>
                      <a:pt x="1205743" y="188106"/>
                    </a:lnTo>
                    <a:cubicBezTo>
                      <a:pt x="1205743" y="210980"/>
                      <a:pt x="1196656" y="232917"/>
                      <a:pt x="1180482" y="249091"/>
                    </a:cubicBezTo>
                    <a:cubicBezTo>
                      <a:pt x="1164308" y="265265"/>
                      <a:pt x="1142371" y="274352"/>
                      <a:pt x="1119497" y="274352"/>
                    </a:cubicBezTo>
                    <a:lnTo>
                      <a:pt x="86246" y="274352"/>
                    </a:lnTo>
                    <a:cubicBezTo>
                      <a:pt x="63372" y="274352"/>
                      <a:pt x="41435" y="265265"/>
                      <a:pt x="25261" y="249091"/>
                    </a:cubicBezTo>
                    <a:cubicBezTo>
                      <a:pt x="9087" y="232917"/>
                      <a:pt x="0" y="210980"/>
                      <a:pt x="0" y="188106"/>
                    </a:cubicBezTo>
                    <a:lnTo>
                      <a:pt x="0" y="86246"/>
                    </a:lnTo>
                    <a:cubicBezTo>
                      <a:pt x="0" y="63372"/>
                      <a:pt x="9087" y="41435"/>
                      <a:pt x="25261" y="25261"/>
                    </a:cubicBezTo>
                    <a:cubicBezTo>
                      <a:pt x="41435" y="9087"/>
                      <a:pt x="63372" y="0"/>
                      <a:pt x="86246" y="0"/>
                    </a:cubicBezTo>
                    <a:close/>
                  </a:path>
                </a:pathLst>
              </a:custGeom>
              <a:solidFill>
                <a:srgbClr val="FFFFFF"/>
              </a:solidFill>
            </p:spPr>
          </p:sp>
          <p:sp>
            <p:nvSpPr>
              <p:cNvPr name="TextBox 29" id="29"/>
              <p:cNvSpPr txBox="true"/>
              <p:nvPr/>
            </p:nvSpPr>
            <p:spPr>
              <a:xfrm>
                <a:off x="0" y="-38100"/>
                <a:ext cx="1205743" cy="312452"/>
              </a:xfrm>
              <a:prstGeom prst="rect">
                <a:avLst/>
              </a:prstGeom>
            </p:spPr>
            <p:txBody>
              <a:bodyPr anchor="ctr" rtlCol="false" tIns="50800" lIns="50800" bIns="50800" rIns="50800"/>
              <a:lstStyle/>
              <a:p>
                <a:pPr algn="ctr">
                  <a:lnSpc>
                    <a:spcPts val="2659"/>
                  </a:lnSpc>
                </a:pPr>
              </a:p>
            </p:txBody>
          </p:sp>
        </p:grpSp>
        <p:sp>
          <p:nvSpPr>
            <p:cNvPr name="Freeform 30" id="30"/>
            <p:cNvSpPr/>
            <p:nvPr/>
          </p:nvSpPr>
          <p:spPr>
            <a:xfrm flipH="false" flipV="false" rot="0">
              <a:off x="2372740" y="56308"/>
              <a:ext cx="1124209" cy="1124209"/>
            </a:xfrm>
            <a:custGeom>
              <a:avLst/>
              <a:gdLst/>
              <a:ahLst/>
              <a:cxnLst/>
              <a:rect r="r" b="b" t="t" l="l"/>
              <a:pathLst>
                <a:path h="1124209" w="1124209">
                  <a:moveTo>
                    <a:pt x="0" y="0"/>
                  </a:moveTo>
                  <a:lnTo>
                    <a:pt x="1124209" y="0"/>
                  </a:lnTo>
                  <a:lnTo>
                    <a:pt x="1124209" y="1124209"/>
                  </a:lnTo>
                  <a:lnTo>
                    <a:pt x="0" y="1124209"/>
                  </a:lnTo>
                  <a:lnTo>
                    <a:pt x="0" y="0"/>
                  </a:lnTo>
                  <a:close/>
                </a:path>
              </a:pathLst>
            </a:custGeom>
            <a:blipFill>
              <a:blip r:embed="rId8"/>
              <a:stretch>
                <a:fillRect l="0" t="0" r="0" b="0"/>
              </a:stretch>
            </a:blipFill>
          </p:spPr>
        </p:sp>
        <p:sp>
          <p:nvSpPr>
            <p:cNvPr name="Freeform 31" id="31"/>
            <p:cNvSpPr/>
            <p:nvPr/>
          </p:nvSpPr>
          <p:spPr>
            <a:xfrm flipH="false" flipV="false" rot="0">
              <a:off x="4644101" y="98484"/>
              <a:ext cx="938280" cy="1038569"/>
            </a:xfrm>
            <a:custGeom>
              <a:avLst/>
              <a:gdLst/>
              <a:ahLst/>
              <a:cxnLst/>
              <a:rect r="r" b="b" t="t" l="l"/>
              <a:pathLst>
                <a:path h="1038569" w="938280">
                  <a:moveTo>
                    <a:pt x="0" y="0"/>
                  </a:moveTo>
                  <a:lnTo>
                    <a:pt x="938280" y="0"/>
                  </a:lnTo>
                  <a:lnTo>
                    <a:pt x="938280" y="1038568"/>
                  </a:lnTo>
                  <a:lnTo>
                    <a:pt x="0" y="1038568"/>
                  </a:lnTo>
                  <a:lnTo>
                    <a:pt x="0" y="0"/>
                  </a:lnTo>
                  <a:close/>
                </a:path>
              </a:pathLst>
            </a:custGeom>
            <a:blipFill>
              <a:blip r:embed="rId9"/>
              <a:stretch>
                <a:fillRect l="0" t="0" r="0" b="0"/>
              </a:stretch>
            </a:blipFill>
          </p:spPr>
        </p:sp>
        <p:sp>
          <p:nvSpPr>
            <p:cNvPr name="Freeform 32" id="32"/>
            <p:cNvSpPr/>
            <p:nvPr/>
          </p:nvSpPr>
          <p:spPr>
            <a:xfrm flipH="false" flipV="false" rot="0">
              <a:off x="3496949" y="98484"/>
              <a:ext cx="1044322" cy="1039859"/>
            </a:xfrm>
            <a:custGeom>
              <a:avLst/>
              <a:gdLst/>
              <a:ahLst/>
              <a:cxnLst/>
              <a:rect r="r" b="b" t="t" l="l"/>
              <a:pathLst>
                <a:path h="1039859" w="1044322">
                  <a:moveTo>
                    <a:pt x="0" y="0"/>
                  </a:moveTo>
                  <a:lnTo>
                    <a:pt x="1044322" y="0"/>
                  </a:lnTo>
                  <a:lnTo>
                    <a:pt x="1044322" y="1039858"/>
                  </a:lnTo>
                  <a:lnTo>
                    <a:pt x="0" y="1039858"/>
                  </a:lnTo>
                  <a:lnTo>
                    <a:pt x="0" y="0"/>
                  </a:lnTo>
                  <a:close/>
                </a:path>
              </a:pathLst>
            </a:custGeom>
            <a:blipFill>
              <a:blip r:embed="rId10"/>
              <a:stretch>
                <a:fillRect l="0" t="0" r="0" b="0"/>
              </a:stretch>
            </a:blipFill>
          </p:spPr>
        </p:sp>
        <p:sp>
          <p:nvSpPr>
            <p:cNvPr name="Freeform 33" id="33"/>
            <p:cNvSpPr/>
            <p:nvPr/>
          </p:nvSpPr>
          <p:spPr>
            <a:xfrm flipH="false" flipV="false" rot="0">
              <a:off x="1496830" y="98484"/>
              <a:ext cx="1039859" cy="1039859"/>
            </a:xfrm>
            <a:custGeom>
              <a:avLst/>
              <a:gdLst/>
              <a:ahLst/>
              <a:cxnLst/>
              <a:rect r="r" b="b" t="t" l="l"/>
              <a:pathLst>
                <a:path h="1039859" w="1039859">
                  <a:moveTo>
                    <a:pt x="0" y="0"/>
                  </a:moveTo>
                  <a:lnTo>
                    <a:pt x="1039858" y="0"/>
                  </a:lnTo>
                  <a:lnTo>
                    <a:pt x="1039858" y="1039858"/>
                  </a:lnTo>
                  <a:lnTo>
                    <a:pt x="0" y="1039858"/>
                  </a:lnTo>
                  <a:lnTo>
                    <a:pt x="0" y="0"/>
                  </a:lnTo>
                  <a:close/>
                </a:path>
              </a:pathLst>
            </a:custGeom>
            <a:blipFill>
              <a:blip r:embed="rId11"/>
              <a:stretch>
                <a:fillRect l="0" t="0" r="0" b="0"/>
              </a:stretch>
            </a:blipFill>
          </p:spPr>
        </p:sp>
        <p:sp>
          <p:nvSpPr>
            <p:cNvPr name="Freeform 34" id="34"/>
            <p:cNvSpPr/>
            <p:nvPr/>
          </p:nvSpPr>
          <p:spPr>
            <a:xfrm flipH="false" flipV="false" rot="0">
              <a:off x="362098" y="122166"/>
              <a:ext cx="1033131" cy="1033131"/>
            </a:xfrm>
            <a:custGeom>
              <a:avLst/>
              <a:gdLst/>
              <a:ahLst/>
              <a:cxnLst/>
              <a:rect r="r" b="b" t="t" l="l"/>
              <a:pathLst>
                <a:path h="1033131" w="1033131">
                  <a:moveTo>
                    <a:pt x="0" y="0"/>
                  </a:moveTo>
                  <a:lnTo>
                    <a:pt x="1033132" y="0"/>
                  </a:lnTo>
                  <a:lnTo>
                    <a:pt x="1033132" y="1033132"/>
                  </a:lnTo>
                  <a:lnTo>
                    <a:pt x="0" y="1033132"/>
                  </a:lnTo>
                  <a:lnTo>
                    <a:pt x="0" y="0"/>
                  </a:lnTo>
                  <a:close/>
                </a:path>
              </a:pathLst>
            </a:custGeom>
            <a:blipFill>
              <a:blip r:embed="rId12"/>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DAG5vviDgbA</dc:identifier>
  <dcterms:modified xsi:type="dcterms:W3CDTF">2011-08-01T06:04:30Z</dcterms:modified>
  <cp:revision>1</cp:revision>
  <dc:title>ppt2</dc:title>
</cp:coreProperties>
</file>